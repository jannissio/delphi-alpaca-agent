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[0:00 - 0:18   45 words at 150 wpm]</a:t>
            </a:r>
          </a:p>
          <a:p/>
          <a:p>
            <a:r>
              <a:t>This is Delphi. It's an autonomous agent that sells same-day iron condors on SPY, through Alpaca's paper API.</a:t>
            </a:r>
          </a:p>
          <a:p/>
          <a:p>
            <a:r>
              <a:t>The name does some work here. The oracle at Delphi answered in categories, and somebody else worked out the numbers. That's exactly how this agent is split.</a:t>
            </a:r>
          </a:p>
          <a:p/>
          <a:p>
            <a:r>
              <a:t>Sources: Coin: team_cover/ (reverse of a silver tridrachm of Delphi, c. 480 BC). Account, licence and repository: docs/SUBMISSION.md, README.md.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[0:18 - 0:51   82 words at 150 wpm]</a:t>
            </a:r>
          </a:p>
          <a:p/>
          <a:p>
            <a:r>
              <a:t>Let me start with what we can't claim.</a:t>
            </a:r>
          </a:p>
          <a:p/>
          <a:p>
            <a:r>
              <a:t>This competition runs about three trading sessions. Over three sessions you can't tell an options strategy apart from noise. Index option alphas have been indistinguishable from zero for fifteen years.</a:t>
            </a:r>
          </a:p>
          <a:p/>
          <a:p>
            <a:r>
              <a:t>And the half of the premium you can actually measure is earned overnight. We're never in a position after the close, so we give it up on purpose.</a:t>
            </a:r>
          </a:p>
          <a:p/>
          <a:p>
            <a:r>
              <a:t>We don't claim an edge. We built this to give you something checkable on every trade.</a:t>
            </a:r>
          </a:p>
          <a:p/>
          <a:p>
            <a:r>
              <a:t>Sources: [1] Dew-Becker &amp; Giglio 2025. [2] Vilkov 2026 and its KNOWN-ISSUES, 2026-08. [3] Muravyev &amp; Ni 2020 JFE. [4] Bailey &amp; Lopez de Prado 2014. [15] Waudby-Smith &amp; Ramdas 2023. [19] Almeida, Freire &amp; Hizmeri 2025. In the repository: docs/THEORY.md sections 8 and 9, docs/evidence.md, README.md 'Why this design'. [R11] scripts/reproduce.py.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[0:51 - 1:41   125 words at 150 wpm]</a:t>
            </a:r>
          </a:p>
          <a:p/>
          <a:p>
            <a:r>
              <a:t>An iron condor is really a prediction interval that you sell. Two strikes, a credit, and you keep it if the close lands inside.</a:t>
            </a:r>
          </a:p>
          <a:p/>
          <a:p>
            <a:r>
              <a:t>So the only question is where those strikes go. Most agents pick a fixed distance, or a fixed delta. We don't.</a:t>
            </a:r>
          </a:p>
          <a:p/>
          <a:p>
            <a:r>
              <a:t>We use conformal risk control. We look back over two hundred and fifty sessions: how far did SPY move, against the move the options priced in?</a:t>
            </a:r>
          </a:p>
          <a:p/>
          <a:p>
            <a:r>
              <a:t>What the buyer gets paid is a number between zero and one, and it shrinks as we widen. We take the narrowest interval where that payoff stays certified under ten percent of the wing.</a:t>
            </a:r>
          </a:p>
          <a:p/>
          <a:p>
            <a:r>
              <a:t>Certified in finite samples. No assumption about the distribution.</a:t>
            </a:r>
          </a:p>
          <a:p/>
          <a:p>
            <a:r>
              <a:t>Where the black curve crosses ten percent is where we sell.</a:t>
            </a:r>
          </a:p>
          <a:p/>
          <a:p>
            <a:r>
              <a:t>Sources: [5] Angelopoulos, Bates, Fisch, Lei &amp; Schuster, ICLR 2024. [6] Feldman, Ringel, Bates &amp; Romano, TMLR 2023. In the repository: [R1] docs/THEORY.md Lemma 1, Theorems 3 and 4; docs/risk_curve.svg, regenerated by scripts/risk_curve.py; [R10] research/G_conformal_condor.md.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[1:41 - 2:21   100 words at 150 wpm]</a:t>
            </a:r>
          </a:p>
          <a:p/>
          <a:p>
            <a:r>
              <a:t>Now the other side.</a:t>
            </a:r>
          </a:p>
          <a:p/>
          <a:p>
            <a:r>
              <a:t>Once the interval is fixed, the market puts a price on it. Take the credit, divide by the wing width, and that's the market's own probability of finishing outside. Breeden-Litzenberger.</a:t>
            </a:r>
          </a:p>
          <a:p/>
          <a:p>
            <a:r>
              <a:t>So we have two numbers for the same event. The rule is one line.</a:t>
            </a:r>
          </a:p>
          <a:p/>
          <a:p>
            <a:r>
              <a:t>Sell only if the market pays fifteen percent of the wing. Ten is the certified cost. Five is what the round trip costs us. A cost margin, not a profit target.</a:t>
            </a:r>
          </a:p>
          <a:p/>
          <a:p>
            <a:r>
              <a:t>Every trade that passes is certified not to lose, in expectation, after costs. If the market won't pay, we don't trade.</a:t>
            </a:r>
          </a:p>
          <a:p/>
          <a:p>
            <a:r>
              <a:t>Sources: [7] Breeden &amp; Litzenberger 1978. In the repository: [R1] docs/THEORY.md Lemma 2 and gate 31; [R2] docs/conformal_backfill.md, 618 calibrated sessions 2024-01-02 to 2026-09-01; [R5] docs/CONFIG_CHANGES.md, credit read at the expected fill from 2026-09-02.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[2:21 - 2:56   87 words at 150 wpm]</a:t>
            </a:r>
          </a:p>
          <a:p/>
          <a:p>
            <a:r>
              <a:t>Underneath all this, the model never touches a number.</a:t>
            </a:r>
          </a:p>
          <a:p/>
          <a:p>
            <a:r>
              <a:t>It reads headlines with the tickers stripped out, and it answers in categories: the volatility regime, event risk, a strategy family, a veto.</a:t>
            </a:r>
          </a:p>
          <a:p/>
          <a:p>
            <a:r>
              <a:t>We ask three times, and all three have to agree. If they don't, we don't trade. That's an abstention filter, not an ensemble.</a:t>
            </a:r>
          </a:p>
          <a:p/>
          <a:p>
            <a:r>
              <a:t>A second pass can shrink the order or block it. It can never make it bigger.</a:t>
            </a:r>
          </a:p>
          <a:p/>
          <a:p>
            <a:r>
              <a:t>Everything with a number on it — strikes, size, limit price, exit — is plain code.</a:t>
            </a:r>
          </a:p>
          <a:p/>
          <a:p>
            <a:r>
              <a:t>Sources: [8] Glasserman &amp; Lin 2023. [9] Kim 2026. [10] Koviazin, Mudarisov, Polyachenko &amp; State, IC-AIF 2026. [11] Thinking Machines Lab 2025. In the repository: README.md 'Architecture', docs/WRITEUP.md 'AI logic', [R7] docs/report_2026-09-02.md (LLM section).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[2:56 - 3:36   100 words at 150 wpm]</a:t>
            </a:r>
          </a:p>
          <a:p/>
          <a:p>
            <a:r>
              <a:t>Before any order goes out, it passes thirty-one gates.</a:t>
            </a:r>
          </a:p>
          <a:p/>
          <a:p>
            <a:r>
              <a:t>We didn't invent those. They come from SEC Rule fifteen-c-three-five, MiFID, FINRA, and the Knight Capital order.</a:t>
            </a:r>
          </a:p>
          <a:p/>
          <a:p>
            <a:r>
              <a:t>A session can lose two percent of the account, the whole week six. Every short leg has a bought wing next to it, so the worst case is fixed when the order is built.</a:t>
            </a:r>
          </a:p>
          <a:p/>
          <a:p>
            <a:r>
              <a:t>We price in ticks, not percentages. The pilot day taught us why: three rungs, fixed when we decided, expired unfilled while the price dropped from forty-seven cents to thirty-nine in a minute. Now every rung is re-priced when it's sent.</a:t>
            </a:r>
          </a:p>
          <a:p/>
          <a:p>
            <a:r>
              <a:t>Sources: [12] SEC Rule 15c3-5; MiFID II RTS 6; FINRA Notice 15-09; SEC order in re Knight Capital, 2013. [13] Fu, Li &amp; Musto, SEC DERA. In the repository: [R4] config/risk_limits.yaml and agent/gates/engine.py; [R5] docs/CONFIG_CHANGES.md; [R7] docs/report_2026-09-02.md.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[3:36 - 4:10   87 words at 150 wpm]</a:t>
            </a:r>
          </a:p>
          <a:p/>
          <a:p>
            <a:r>
              <a:t>This is the agent running.</a:t>
            </a:r>
          </a:p>
          <a:p/>
          <a:p>
            <a:r>
              <a:t>What we report is the ledger. Every session writes a line, traded or not: what the interval cost, what the market paid, the gap, what we decided, and what the old fixed rule would have done.</a:t>
            </a:r>
          </a:p>
          <a:p/>
          <a:p>
            <a:r>
              <a:t>You can read one line of that and judge it. No statistics needed.</a:t>
            </a:r>
          </a:p>
          <a:p/>
          <a:p>
            <a:r>
              <a:t>All three Alpaca paths are here: the Trading API places the multi-leg orders, the CLI reconciles on its own, the MCP server is how I inspect it.</a:t>
            </a:r>
          </a:p>
          <a:p/>
          <a:p>
            <a:r>
              <a:t>Friday's numbers go in this space.</a:t>
            </a:r>
          </a:p>
          <a:p/>
          <a:p>
            <a:r>
              <a:t>Sources: In the repository: [R8] docs/ledger.json and docs/index.html; [R3] docs/evidence.md; [R7] docs/report_2026-09-02.md, the pilot session on the development account; [R11] scripts/reproduce.py. Monte Carlo null: README.md 'What was trained on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[4:10 - 4:47   91 words at 150 wpm]</a:t>
            </a:r>
          </a:p>
          <a:p/>
          <a:p>
            <a:r>
              <a:t>Finally, the boundary.</a:t>
            </a:r>
          </a:p>
          <a:p/>
          <a:p>
            <a:r>
              <a:t>The deterministic part is machine-checked in Lean. Thirteen theorems, no gaps.</a:t>
            </a:r>
          </a:p>
          <a:p/>
          <a:p>
            <a:r>
              <a:t>The probabilistic part isn't. We assume it and we cite it. And the certificate holds on average, while our own gate picks which days we trade. That's a real weakness, and it's on the slide.</a:t>
            </a:r>
          </a:p>
          <a:p/>
          <a:p>
            <a:r>
              <a:t>There's no Sharpe ratio anywhere in this repo. At three sessions it would be a number about nothing.</a:t>
            </a:r>
          </a:p>
          <a:p/>
          <a:p>
            <a:r>
              <a:t>What we do claim: a bound on every trade, a risk process that did exactly what it said, and a ledger anyone can check.</a:t>
            </a:r>
          </a:p>
          <a:p/>
          <a:p>
            <a:r>
              <a:t>Sources: [4] Bailey &amp; Lopez de Prado 2014. [14] Goetzmann, Ingersoll, Spiegel &amp; Welch 2007. [16] Lekeufack et al., ICRA 2024; Ryan 2026. [17] Jin &amp; Ren 2025; Gibbs, Cherian &amp; Candes 2025; Xu, Guo &amp; Wei 2025. [18] Ushakov &amp; Berdinsky 2026; Coelho 2026. In the repository: [R6] lean/Delphi/Condor.lean and lean/README.md; [R1] docs/THEORY.md sections 6 and 8; [R12] research/STATE_OF_THE_ART.md section 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Every figure from docs/conformal_backfill.md, which scripts/conformal_backfill.py regenerates.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Figures from docs/regime_model_report.md and research/H_tabular_ml_small_data.md.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Every figure from docs/evidence.md, regenerated by scripts/evidence.py.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Numbering matches the markers used on slides 2 to 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Numbering matches the markers used on slides 2 to 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Repository: github.com/jannissio/delphi-alpaca-agent (MIT).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713232"/>
            <a:ext cx="6400800" cy="27432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626262"/>
                </a:solidFill>
                <a:latin typeface="Segoe UI"/>
              </a:rPr>
              <a:t>lablab.ai x Alpaca AI Trading Agents Hackathon   ·   28 August to 4 September 2026</a:t>
            </a:r>
          </a:p>
        </p:txBody>
      </p:sp>
      <p:sp>
        <p:nvSpPr>
          <p:cNvPr id="3" name="TextBox 2"/>
          <p:cNvSpPr txBox="1"/>
          <p:nvPr/>
        </p:nvSpPr>
        <p:spPr>
          <a:xfrm>
            <a:off x="822960" y="1133856"/>
            <a:ext cx="6400800" cy="914400"/>
          </a:xfrm>
          <a:prstGeom prst="rect">
            <a:avLst/>
          </a:prstGeom>
          <a:noFill/>
        </p:spPr>
        <p:txBody>
          <a:bodyPr wrap="square" lIns="0" rIns="0" tIns="0" bIns="0" anchor="t">
            <a:spAutoFit/>
          </a:bodyPr>
          <a:lstStyle/>
          <a:p>
            <a:pPr algn="l">
              <a:lnSpc>
                <a:spcPct val="100000"/>
              </a:lnSpc>
              <a:spcBef>
                <a:spcPts val="0"/>
              </a:spcBef>
              <a:spcAft>
                <a:spcPts val="0"/>
              </a:spcAft>
            </a:pPr>
            <a:r>
              <a:rPr sz="4800" b="0" i="0">
                <a:solidFill>
                  <a:srgbClr val="101010"/>
                </a:solidFill>
                <a:latin typeface="Segoe UI Semibold"/>
              </a:rPr>
              <a:t>Delphi</a:t>
            </a:r>
          </a:p>
        </p:txBody>
      </p:sp>
      <p:sp>
        <p:nvSpPr>
          <p:cNvPr id="4" name="Rectangle 3"/>
          <p:cNvSpPr/>
          <p:nvPr/>
        </p:nvSpPr>
        <p:spPr>
          <a:xfrm>
            <a:off x="822960" y="2103120"/>
            <a:ext cx="1188720" cy="68580"/>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59152"/>
            <a:ext cx="6035040"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a:solidFill>
                  <a:srgbClr val="2B373B"/>
                </a:solidFill>
                <a:latin typeface="Segoe UI"/>
              </a:rPr>
              <a:t>A 0DTE iron condor agent on Alpaca paper trading</a:t>
            </a:r>
          </a:p>
        </p:txBody>
      </p:sp>
      <p:sp>
        <p:nvSpPr>
          <p:cNvPr id="6" name="TextBox 5"/>
          <p:cNvSpPr txBox="1"/>
          <p:nvPr/>
        </p:nvSpPr>
        <p:spPr>
          <a:xfrm>
            <a:off x="822960" y="3090672"/>
            <a:ext cx="5852160" cy="1097280"/>
          </a:xfrm>
          <a:prstGeom prst="rect">
            <a:avLst/>
          </a:prstGeom>
          <a:noFill/>
        </p:spPr>
        <p:txBody>
          <a:bodyPr wrap="square" lIns="0" rIns="0" tIns="0" bIns="0" anchor="t">
            <a:spAutoFit/>
          </a:bodyPr>
          <a:lstStyle/>
          <a:p>
            <a:pPr algn="l">
              <a:lnSpc>
                <a:spcPct val="135000"/>
              </a:lnSpc>
              <a:spcBef>
                <a:spcPts val="0"/>
              </a:spcBef>
              <a:spcAft>
                <a:spcPts val="0"/>
              </a:spcAft>
            </a:pPr>
            <a:r>
              <a:rPr sz="1300" b="0" i="0">
                <a:solidFill>
                  <a:srgbClr val="626262"/>
                </a:solidFill>
                <a:latin typeface="Segoe UI"/>
              </a:rPr>
              <a:t>Short strikes are set by conformal risk control. The trade condition compares the certified cost of that interval with the market's price of the same interval.</a:t>
            </a:r>
          </a:p>
        </p:txBody>
      </p:sp>
      <p:sp>
        <p:nvSpPr>
          <p:cNvPr id="7" name="Rectangle 6"/>
          <p:cNvSpPr/>
          <p:nvPr/>
        </p:nvSpPr>
        <p:spPr>
          <a:xfrm>
            <a:off x="822960" y="4389120"/>
            <a:ext cx="5486400"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553712"/>
            <a:ext cx="5852160" cy="1280160"/>
          </a:xfrm>
          <a:prstGeom prst="rect">
            <a:avLst/>
          </a:prstGeom>
          <a:noFill/>
        </p:spPr>
        <p:txBody>
          <a:bodyPr wrap="square" lIns="0" rIns="0" tIns="0" bIns="0" anchor="t">
            <a:spAutoFit/>
          </a:bodyPr>
          <a:lstStyle/>
          <a:p>
            <a:pPr algn="l">
              <a:lnSpc>
                <a:spcPct val="116000"/>
              </a:lnSpc>
              <a:spcBef>
                <a:spcPts val="0"/>
              </a:spcBef>
              <a:spcAft>
                <a:spcPts val="500"/>
              </a:spcAft>
            </a:pPr>
            <a:r>
              <a:rPr sz="900" b="0" i="0">
                <a:solidFill>
                  <a:srgbClr val="2B373B"/>
                </a:solidFill>
                <a:latin typeface="Segoe UI"/>
              </a:rPr>
              <a:t>Solo entry   ·   MIT licence   ·   github.com/jannissio/delphi-alpaca-agent</a:t>
            </a:r>
          </a:p>
          <a:p>
            <a:pPr algn="l">
              <a:lnSpc>
                <a:spcPct val="125000"/>
              </a:lnSpc>
              <a:spcBef>
                <a:spcPts val="0"/>
              </a:spcBef>
              <a:spcAft>
                <a:spcPts val="400"/>
              </a:spcAft>
            </a:pPr>
            <a:r>
              <a:rPr sz="900" b="0" i="0">
                <a:solidFill>
                  <a:srgbClr val="626262"/>
                </a:solidFill>
                <a:latin typeface="Segoe UI"/>
              </a:rPr>
              <a:t>Competition paper account </a:t>
            </a:r>
            <a:r>
              <a:rPr sz="900" b="0" i="0">
                <a:solidFill>
                  <a:srgbClr val="626262"/>
                </a:solidFill>
                <a:latin typeface="Segoe UI Semibold"/>
              </a:rPr>
              <a:t>PA31SEVJV9P9</a:t>
            </a:r>
            <a:r>
              <a:rPr sz="900" b="0" i="0">
                <a:solidFill>
                  <a:srgbClr val="626262"/>
                </a:solidFill>
                <a:latin typeface="Segoe UI"/>
              </a:rPr>
              <a:t>, funded $100,000, options level 3, traded only by the submitted agent from 2026-09-03.</a:t>
            </a:r>
          </a:p>
        </p:txBody>
      </p:sp>
      <p:pic>
        <p:nvPicPr>
          <p:cNvPr id="9" name="Picture 8" descr="Delphi_DE-MUS-814819-18215461-rv.jpg"/>
          <p:cNvPicPr>
            <a:picLocks noChangeAspect="1"/>
          </p:cNvPicPr>
          <p:nvPr/>
        </p:nvPicPr>
        <p:blipFill>
          <a:blip r:embed="rId2"/>
          <a:stretch>
            <a:fillRect/>
          </a:stretch>
        </p:blipFill>
        <p:spPr>
          <a:xfrm>
            <a:off x="8076895" y="1920240"/>
            <a:ext cx="3291840" cy="3020323"/>
          </a:xfrm>
          <a:prstGeom prst="rect">
            <a:avLst/>
          </a:prstGeom>
        </p:spPr>
      </p:pic>
      <p:sp>
        <p:nvSpPr>
          <p:cNvPr id="10" name="TextBox 9"/>
          <p:cNvSpPr txBox="1"/>
          <p:nvPr/>
        </p:nvSpPr>
        <p:spPr>
          <a:xfrm>
            <a:off x="8076895" y="5047488"/>
            <a:ext cx="3291840" cy="1097280"/>
          </a:xfrm>
          <a:prstGeom prst="rect">
            <a:avLst/>
          </a:prstGeom>
          <a:noFill/>
        </p:spPr>
        <p:txBody>
          <a:bodyPr wrap="square" lIns="0" rIns="0" tIns="0" bIns="0" anchor="t">
            <a:spAutoFit/>
          </a:bodyPr>
          <a:lstStyle/>
          <a:p>
            <a:pPr algn="l">
              <a:lnSpc>
                <a:spcPct val="125000"/>
              </a:lnSpc>
              <a:spcBef>
                <a:spcPts val="0"/>
              </a:spcBef>
              <a:spcAft>
                <a:spcPts val="0"/>
              </a:spcAft>
            </a:pPr>
            <a:r>
              <a:rPr sz="800" b="0" i="0">
                <a:solidFill>
                  <a:srgbClr val="979797"/>
                </a:solidFill>
                <a:latin typeface="Segoe UI"/>
              </a:rPr>
              <a:t>Reverse of a silver tridrachm of Delphi, c. 480 BC: four coffers, a dolphin in each. Two maxims stood at the temple, nothing in excess and know thyself. They correspond to the loss caps and to the claims this deck does not make.</a:t>
            </a:r>
          </a:p>
        </p:txBody>
      </p:sp>
      <p:sp>
        <p:nvSpPr>
          <p:cNvPr id="11" name="Rectangle 10"/>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13" name="TextBox 12"/>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Premise: what the evidence supports</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Over three trading sessions the profit and loss of an options strategy cannot be distinguished from noise. The agent is therefore built to produce evidence that needs no statistical power.</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[1] Dew-Becker &amp; Giglio 2025. [2] Vilkov 2026 and its KNOWN-ISSUES, 2026-08. [3] Muravyev &amp; Ni 2020 JFE. [4] Bailey &amp; Lopez de Prado 2014. [15] Waudby-Smith &amp; Ramdas 2023. [19] Almeida, Freire &amp; Hizmeri 2025. In the repository: docs/THEORY.md sections 8 and 9, docs/evidence.md, README.md 'Why this design'. [R11] scripts/reproduce.py.</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2</a:t>
            </a:r>
          </a:p>
        </p:txBody>
      </p:sp>
      <p:sp>
        <p:nvSpPr>
          <p:cNvPr id="9" name="Rectangle 8"/>
          <p:cNvSpPr/>
          <p:nvPr/>
        </p:nvSpPr>
        <p:spPr>
          <a:xfrm>
            <a:off x="822960" y="1883664"/>
            <a:ext cx="10545775"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29968"/>
            <a:ext cx="6485651"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2B373B"/>
                </a:solidFill>
                <a:latin typeface="Segoe UI"/>
              </a:rPr>
              <a:t>Traded index-option alphas have been indistinguishable from zero for fifteen years, and same-day premium selling is roughly zero after costs. The one public 0DTE rule study lost every positive net Sharpe ratio when its author corrected a hundredfold transaction-cost error in August 2026. [1][2][19]</a:t>
            </a:r>
          </a:p>
        </p:txBody>
      </p:sp>
      <p:sp>
        <p:nvSpPr>
          <p:cNvPr id="11" name="TextBox 10"/>
          <p:cNvSpPr txBox="1"/>
          <p:nvPr/>
        </p:nvSpPr>
        <p:spPr>
          <a:xfrm>
            <a:off x="7730442" y="2029968"/>
            <a:ext cx="3638292"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101010"/>
                </a:solidFill>
                <a:latin typeface="Segoe UI Semibold"/>
              </a:rPr>
              <a:t>No edge is claimed, and the corrected result is cited against us.</a:t>
            </a:r>
          </a:p>
        </p:txBody>
      </p:sp>
      <p:sp>
        <p:nvSpPr>
          <p:cNvPr id="12" name="Rectangle 11"/>
          <p:cNvSpPr/>
          <p:nvPr/>
        </p:nvSpPr>
        <p:spPr>
          <a:xfrm>
            <a:off x="822960" y="293522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081528"/>
            <a:ext cx="6485651"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2B373B"/>
                </a:solidFill>
                <a:latin typeface="Segoe UI"/>
              </a:rPr>
              <a:t>The half of the index-option premium that can be measured is earned overnight: delta-hedged S&amp;P 500 returns to the buyer average about −1 % per day from close to open against +0.3 % from open to close. [3]</a:t>
            </a:r>
          </a:p>
        </p:txBody>
      </p:sp>
      <p:sp>
        <p:nvSpPr>
          <p:cNvPr id="14" name="TextBox 13"/>
          <p:cNvSpPr txBox="1"/>
          <p:nvPr/>
        </p:nvSpPr>
        <p:spPr>
          <a:xfrm>
            <a:off x="7730442" y="3081528"/>
            <a:ext cx="3638292"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101010"/>
                </a:solidFill>
                <a:latin typeface="Segoe UI Semibold"/>
              </a:rPr>
              <a:t>Delphi never holds overnight, so it forgoes that half by construction. Pre-registered in advance, not explained afterwards.</a:t>
            </a:r>
          </a:p>
        </p:txBody>
      </p:sp>
      <p:sp>
        <p:nvSpPr>
          <p:cNvPr id="15" name="Rectangle 14"/>
          <p:cNvSpPr/>
          <p:nvPr/>
        </p:nvSpPr>
        <p:spPr>
          <a:xfrm>
            <a:off x="822960" y="3986783"/>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7"/>
            <a:ext cx="6485651"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2B373B"/>
                </a:solidFill>
                <a:latin typeface="Segoe UI"/>
              </a:rPr>
              <a:t>With three observations the Probabilistic Sharpe Ratio cannot reach 95 % at any performance level, and three perfect sessions at a credit of 0.20 of the wing cannot push an anytime-valid p-value below 0.51. [4][15]</a:t>
            </a:r>
          </a:p>
        </p:txBody>
      </p:sp>
      <p:sp>
        <p:nvSpPr>
          <p:cNvPr id="17" name="TextBox 16"/>
          <p:cNvSpPr txBox="1"/>
          <p:nvPr/>
        </p:nvSpPr>
        <p:spPr>
          <a:xfrm>
            <a:off x="7730442" y="4133087"/>
            <a:ext cx="3638292"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101010"/>
                </a:solidFill>
                <a:latin typeface="Segoe UI Semibold"/>
              </a:rPr>
              <a:t>No Sharpe ratio, win rate or annualised return is reported anywhere in the repository.</a:t>
            </a:r>
          </a:p>
        </p:txBody>
      </p:sp>
      <p:sp>
        <p:nvSpPr>
          <p:cNvPr id="18" name="Rounded Rectangle 17"/>
          <p:cNvSpPr/>
          <p:nvPr/>
        </p:nvSpPr>
        <p:spPr>
          <a:xfrm>
            <a:off x="822960" y="5084064"/>
            <a:ext cx="10545775" cy="658368"/>
          </a:xfrm>
          <a:prstGeom prst="roundRect">
            <a:avLst>
              <a:gd name="adj" fmla="val 6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5212080"/>
            <a:ext cx="10143439" cy="45720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101010"/>
                </a:solidFill>
                <a:latin typeface="Segoe UI Semibold"/>
              </a:rPr>
              <a:t>Reported instead:</a:t>
            </a:r>
            <a:r>
              <a:rPr sz="1050" b="0" i="0">
                <a:solidFill>
                  <a:srgbClr val="2B373B"/>
                </a:solidFill>
                <a:latin typeface="Segoe UI"/>
              </a:rPr>
              <a:t> a bound on the expected payout of every trade, 31 logged risk gates, and a per-session ledger that </a:t>
            </a:r>
            <a:r>
              <a:rPr sz="1000" b="0" i="0">
                <a:solidFill>
                  <a:srgbClr val="2B373B"/>
                </a:solidFill>
                <a:latin typeface="Consolas"/>
              </a:rPr>
              <a:t>scripts/reproduce.py</a:t>
            </a:r>
            <a:r>
              <a:rPr sz="1050" b="0" i="0">
                <a:solidFill>
                  <a:srgbClr val="2B373B"/>
                </a:solidFill>
                <a:latin typeface="Segoe UI"/>
              </a:rPr>
              <a:t> regenerates and marks MATCH or MISMATCH. [R11]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Setting the strikes: conformal risk control</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The short strikes sit at the smallest interval whose expected payout to the buyer is certified, in finite samples, to be at most 10 % of the wing.</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[5] Angelopoulos, Bates, Fisch, Lei &amp; Schuster, ICLR 2024. [6] Feldman, Ringel, Bates &amp; Romano, TMLR 2023. In the repository: [R1] docs/THEORY.md Lemma 1, Theorems 3 and 4; docs/risk_curve.svg, regenerated by scripts/risk_curve.py; [R10] research/G_conformal_condor.md.</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3</a:t>
            </a:r>
          </a:p>
        </p:txBody>
      </p:sp>
      <p:sp>
        <p:nvSpPr>
          <p:cNvPr id="9" name="Rounded Rectangle 8"/>
          <p:cNvSpPr/>
          <p:nvPr/>
        </p:nvSpPr>
        <p:spPr>
          <a:xfrm>
            <a:off x="822960" y="1938528"/>
            <a:ext cx="219456" cy="219456"/>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1</a:t>
            </a:r>
          </a:p>
        </p:txBody>
      </p:sp>
      <p:sp>
        <p:nvSpPr>
          <p:cNvPr id="10" name="TextBox 9"/>
          <p:cNvSpPr txBox="1"/>
          <p:nvPr/>
        </p:nvSpPr>
        <p:spPr>
          <a:xfrm>
            <a:off x="1170432" y="1920240"/>
            <a:ext cx="3246120"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Score</a:t>
            </a:r>
          </a:p>
        </p:txBody>
      </p:sp>
      <p:sp>
        <p:nvSpPr>
          <p:cNvPr id="11" name="TextBox 10"/>
          <p:cNvSpPr txBox="1"/>
          <p:nvPr/>
        </p:nvSpPr>
        <p:spPr>
          <a:xfrm>
            <a:off x="1170432" y="2194560"/>
            <a:ext cx="3246120" cy="685800"/>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626262"/>
                </a:solidFill>
                <a:latin typeface="Segoe UI"/>
              </a:rPr>
              <a:t>For every past session, how far SPY actually moved divided by the move the options implied. The same unit in history and live.</a:t>
            </a:r>
          </a:p>
        </p:txBody>
      </p:sp>
      <p:sp>
        <p:nvSpPr>
          <p:cNvPr id="12" name="Rounded Rectangle 11"/>
          <p:cNvSpPr/>
          <p:nvPr/>
        </p:nvSpPr>
        <p:spPr>
          <a:xfrm>
            <a:off x="822960" y="2907792"/>
            <a:ext cx="219456" cy="219456"/>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2</a:t>
            </a:r>
          </a:p>
        </p:txBody>
      </p:sp>
      <p:sp>
        <p:nvSpPr>
          <p:cNvPr id="13" name="TextBox 12"/>
          <p:cNvSpPr txBox="1"/>
          <p:nvPr/>
        </p:nvSpPr>
        <p:spPr>
          <a:xfrm>
            <a:off x="1170432" y="2889504"/>
            <a:ext cx="3246120"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Loss</a:t>
            </a:r>
          </a:p>
        </p:txBody>
      </p:sp>
      <p:sp>
        <p:nvSpPr>
          <p:cNvPr id="14" name="TextBox 13"/>
          <p:cNvSpPr txBox="1"/>
          <p:nvPr/>
        </p:nvSpPr>
        <p:spPr>
          <a:xfrm>
            <a:off x="1170432" y="3163824"/>
            <a:ext cx="3246120" cy="685800"/>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626262"/>
                </a:solidFill>
                <a:latin typeface="Segoe UI"/>
              </a:rPr>
              <a:t>A condor pays its buyer min((r − k)+, w) / w, a loss between 0 and 1 that falls as the interval widens. [R1, Lemma 1]</a:t>
            </a:r>
          </a:p>
        </p:txBody>
      </p:sp>
      <p:sp>
        <p:nvSpPr>
          <p:cNvPr id="15" name="Rounded Rectangle 14"/>
          <p:cNvSpPr/>
          <p:nvPr/>
        </p:nvSpPr>
        <p:spPr>
          <a:xfrm>
            <a:off x="822960" y="3877056"/>
            <a:ext cx="219456" cy="219456"/>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3</a:t>
            </a:r>
          </a:p>
        </p:txBody>
      </p:sp>
      <p:sp>
        <p:nvSpPr>
          <p:cNvPr id="16" name="TextBox 15"/>
          <p:cNvSpPr txBox="1"/>
          <p:nvPr/>
        </p:nvSpPr>
        <p:spPr>
          <a:xfrm>
            <a:off x="1170432" y="3858768"/>
            <a:ext cx="3246120"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Radius</a:t>
            </a:r>
          </a:p>
        </p:txBody>
      </p:sp>
      <p:sp>
        <p:nvSpPr>
          <p:cNvPr id="17" name="TextBox 16"/>
          <p:cNvSpPr txBox="1"/>
          <p:nvPr/>
        </p:nvSpPr>
        <p:spPr>
          <a:xfrm>
            <a:off x="1170432" y="4133088"/>
            <a:ext cx="3246120" cy="685800"/>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626262"/>
                </a:solidFill>
                <a:latin typeface="Segoe UI"/>
              </a:rPr>
              <a:t>From the trailing 250 scores, the smallest radius whose finite-sample corrected payout ratio is at most beta* = 0.10. [5][R1, Theorem 3]</a:t>
            </a:r>
          </a:p>
        </p:txBody>
      </p:sp>
      <p:sp>
        <p:nvSpPr>
          <p:cNvPr id="18" name="Rounded Rectangle 17"/>
          <p:cNvSpPr/>
          <p:nvPr/>
        </p:nvSpPr>
        <p:spPr>
          <a:xfrm>
            <a:off x="822960" y="4846320"/>
            <a:ext cx="219456" cy="219456"/>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4</a:t>
            </a:r>
          </a:p>
        </p:txBody>
      </p:sp>
      <p:sp>
        <p:nvSpPr>
          <p:cNvPr id="19" name="TextBox 18"/>
          <p:cNvSpPr txBox="1"/>
          <p:nvPr/>
        </p:nvSpPr>
        <p:spPr>
          <a:xfrm>
            <a:off x="1170432" y="4828032"/>
            <a:ext cx="3246120"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Level</a:t>
            </a:r>
          </a:p>
        </p:txBody>
      </p:sp>
      <p:sp>
        <p:nvSpPr>
          <p:cNvPr id="20" name="TextBox 19"/>
          <p:cNvSpPr txBox="1"/>
          <p:nvPr/>
        </p:nvSpPr>
        <p:spPr>
          <a:xfrm>
            <a:off x="1170432" y="5102352"/>
            <a:ext cx="3246120" cy="685800"/>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626262"/>
                </a:solidFill>
                <a:latin typeface="Segoe UI"/>
              </a:rPr>
              <a:t>After every session, traded or not, an online level may tighten the radius and never widen it. [6][R1, Theorem 4]</a:t>
            </a:r>
          </a:p>
        </p:txBody>
      </p:sp>
      <p:sp>
        <p:nvSpPr>
          <p:cNvPr id="21" name="Rectangle 20"/>
          <p:cNvSpPr/>
          <p:nvPr/>
        </p:nvSpPr>
        <p:spPr>
          <a:xfrm>
            <a:off x="5321808" y="2139696"/>
            <a:ext cx="5937199"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2057400"/>
            <a:ext cx="402336" cy="182880"/>
          </a:xfrm>
          <a:prstGeom prst="rect">
            <a:avLst/>
          </a:prstGeom>
          <a:noFill/>
        </p:spPr>
        <p:txBody>
          <a:bodyPr wrap="square" lIns="0" rIns="0" tIns="0" bIns="0" anchor="t">
            <a:spAutoFit/>
          </a:bodyPr>
          <a:lstStyle/>
          <a:p>
            <a:pPr algn="r">
              <a:lnSpc>
                <a:spcPct val="116000"/>
              </a:lnSpc>
              <a:spcBef>
                <a:spcPts val="0"/>
              </a:spcBef>
              <a:spcAft>
                <a:spcPts val="0"/>
              </a:spcAft>
            </a:pPr>
            <a:r>
              <a:rPr sz="750" b="0" i="0">
                <a:solidFill>
                  <a:srgbClr val="979797"/>
                </a:solidFill>
                <a:latin typeface="Segoe UI"/>
              </a:rPr>
              <a:t>0.5</a:t>
            </a:r>
          </a:p>
        </p:txBody>
      </p:sp>
      <p:sp>
        <p:nvSpPr>
          <p:cNvPr id="23" name="Rectangle 22"/>
          <p:cNvSpPr/>
          <p:nvPr/>
        </p:nvSpPr>
        <p:spPr>
          <a:xfrm>
            <a:off x="5321808" y="2710641"/>
            <a:ext cx="5937199"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628345"/>
            <a:ext cx="402336" cy="182880"/>
          </a:xfrm>
          <a:prstGeom prst="rect">
            <a:avLst/>
          </a:prstGeom>
          <a:noFill/>
        </p:spPr>
        <p:txBody>
          <a:bodyPr wrap="square" lIns="0" rIns="0" tIns="0" bIns="0" anchor="t">
            <a:spAutoFit/>
          </a:bodyPr>
          <a:lstStyle/>
          <a:p>
            <a:pPr algn="r">
              <a:lnSpc>
                <a:spcPct val="116000"/>
              </a:lnSpc>
              <a:spcBef>
                <a:spcPts val="0"/>
              </a:spcBef>
              <a:spcAft>
                <a:spcPts val="0"/>
              </a:spcAft>
            </a:pPr>
            <a:r>
              <a:rPr sz="750" b="0" i="0">
                <a:solidFill>
                  <a:srgbClr val="979797"/>
                </a:solidFill>
                <a:latin typeface="Segoe UI"/>
              </a:rPr>
              <a:t>0.4</a:t>
            </a:r>
          </a:p>
        </p:txBody>
      </p:sp>
      <p:sp>
        <p:nvSpPr>
          <p:cNvPr id="25" name="Rectangle 24"/>
          <p:cNvSpPr/>
          <p:nvPr/>
        </p:nvSpPr>
        <p:spPr>
          <a:xfrm>
            <a:off x="5321808" y="3280687"/>
            <a:ext cx="5937199"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46320" y="3198391"/>
            <a:ext cx="402336" cy="182880"/>
          </a:xfrm>
          <a:prstGeom prst="rect">
            <a:avLst/>
          </a:prstGeom>
          <a:noFill/>
        </p:spPr>
        <p:txBody>
          <a:bodyPr wrap="square" lIns="0" rIns="0" tIns="0" bIns="0" anchor="t">
            <a:spAutoFit/>
          </a:bodyPr>
          <a:lstStyle/>
          <a:p>
            <a:pPr algn="r">
              <a:lnSpc>
                <a:spcPct val="116000"/>
              </a:lnSpc>
              <a:spcBef>
                <a:spcPts val="0"/>
              </a:spcBef>
              <a:spcAft>
                <a:spcPts val="0"/>
              </a:spcAft>
            </a:pPr>
            <a:r>
              <a:rPr sz="750" b="0" i="0">
                <a:solidFill>
                  <a:srgbClr val="979797"/>
                </a:solidFill>
                <a:latin typeface="Segoe UI"/>
              </a:rPr>
              <a:t>0.3</a:t>
            </a:r>
          </a:p>
        </p:txBody>
      </p:sp>
      <p:sp>
        <p:nvSpPr>
          <p:cNvPr id="27" name="Rectangle 26"/>
          <p:cNvSpPr/>
          <p:nvPr/>
        </p:nvSpPr>
        <p:spPr>
          <a:xfrm>
            <a:off x="5321808" y="3851632"/>
            <a:ext cx="5937199"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46320" y="3769336"/>
            <a:ext cx="402336" cy="182880"/>
          </a:xfrm>
          <a:prstGeom prst="rect">
            <a:avLst/>
          </a:prstGeom>
          <a:noFill/>
        </p:spPr>
        <p:txBody>
          <a:bodyPr wrap="square" lIns="0" rIns="0" tIns="0" bIns="0" anchor="t">
            <a:spAutoFit/>
          </a:bodyPr>
          <a:lstStyle/>
          <a:p>
            <a:pPr algn="r">
              <a:lnSpc>
                <a:spcPct val="116000"/>
              </a:lnSpc>
              <a:spcBef>
                <a:spcPts val="0"/>
              </a:spcBef>
              <a:spcAft>
                <a:spcPts val="0"/>
              </a:spcAft>
            </a:pPr>
            <a:r>
              <a:rPr sz="750" b="0" i="0">
                <a:solidFill>
                  <a:srgbClr val="979797"/>
                </a:solidFill>
                <a:latin typeface="Segoe UI"/>
              </a:rPr>
              <a:t>0.2</a:t>
            </a:r>
          </a:p>
        </p:txBody>
      </p:sp>
      <p:sp>
        <p:nvSpPr>
          <p:cNvPr id="29" name="Rectangle 28"/>
          <p:cNvSpPr/>
          <p:nvPr/>
        </p:nvSpPr>
        <p:spPr>
          <a:xfrm>
            <a:off x="5321808" y="4421678"/>
            <a:ext cx="5937199"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4339382"/>
            <a:ext cx="402336" cy="182880"/>
          </a:xfrm>
          <a:prstGeom prst="rect">
            <a:avLst/>
          </a:prstGeom>
          <a:noFill/>
        </p:spPr>
        <p:txBody>
          <a:bodyPr wrap="square" lIns="0" rIns="0" tIns="0" bIns="0" anchor="t">
            <a:spAutoFit/>
          </a:bodyPr>
          <a:lstStyle/>
          <a:p>
            <a:pPr algn="r">
              <a:lnSpc>
                <a:spcPct val="116000"/>
              </a:lnSpc>
              <a:spcBef>
                <a:spcPts val="0"/>
              </a:spcBef>
              <a:spcAft>
                <a:spcPts val="0"/>
              </a:spcAft>
            </a:pPr>
            <a:r>
              <a:rPr sz="750" b="0" i="0">
                <a:solidFill>
                  <a:srgbClr val="979797"/>
                </a:solidFill>
                <a:latin typeface="Segoe UI"/>
              </a:rPr>
              <a:t>0.1</a:t>
            </a:r>
          </a:p>
        </p:txBody>
      </p:sp>
      <p:sp>
        <p:nvSpPr>
          <p:cNvPr id="31" name="Rectangle 30"/>
          <p:cNvSpPr/>
          <p:nvPr/>
        </p:nvSpPr>
        <p:spPr>
          <a:xfrm>
            <a:off x="5321808" y="4992624"/>
            <a:ext cx="5937199"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46320" y="4910328"/>
            <a:ext cx="402336" cy="182880"/>
          </a:xfrm>
          <a:prstGeom prst="rect">
            <a:avLst/>
          </a:prstGeom>
          <a:noFill/>
        </p:spPr>
        <p:txBody>
          <a:bodyPr wrap="square" lIns="0" rIns="0" tIns="0" bIns="0" anchor="t">
            <a:spAutoFit/>
          </a:bodyPr>
          <a:lstStyle/>
          <a:p>
            <a:pPr algn="r">
              <a:lnSpc>
                <a:spcPct val="116000"/>
              </a:lnSpc>
              <a:spcBef>
                <a:spcPts val="0"/>
              </a:spcBef>
              <a:spcAft>
                <a:spcPts val="0"/>
              </a:spcAft>
            </a:pPr>
            <a:r>
              <a:rPr sz="750" b="0" i="0">
                <a:solidFill>
                  <a:srgbClr val="979797"/>
                </a:solidFill>
                <a:latin typeface="Segoe UI"/>
              </a:rPr>
              <a:t>0.0</a:t>
            </a:r>
          </a:p>
        </p:txBody>
      </p:sp>
      <p:sp>
        <p:nvSpPr>
          <p:cNvPr id="33" name="TextBox 32"/>
          <p:cNvSpPr txBox="1"/>
          <p:nvPr/>
        </p:nvSpPr>
        <p:spPr>
          <a:xfrm>
            <a:off x="5047488" y="5047488"/>
            <a:ext cx="548640" cy="182880"/>
          </a:xfrm>
          <a:prstGeom prst="rect">
            <a:avLst/>
          </a:prstGeom>
          <a:noFill/>
        </p:spPr>
        <p:txBody>
          <a:bodyPr wrap="square" lIns="0" rIns="0" tIns="0" bIns="0" anchor="t">
            <a:spAutoFit/>
          </a:bodyPr>
          <a:lstStyle/>
          <a:p>
            <a:pPr algn="ctr">
              <a:lnSpc>
                <a:spcPct val="116000"/>
              </a:lnSpc>
              <a:spcBef>
                <a:spcPts val="0"/>
              </a:spcBef>
              <a:spcAft>
                <a:spcPts val="0"/>
              </a:spcAft>
            </a:pPr>
            <a:r>
              <a:rPr sz="750" b="0" i="0">
                <a:solidFill>
                  <a:srgbClr val="979797"/>
                </a:solidFill>
                <a:latin typeface="Segoe UI"/>
              </a:rPr>
              <a:t>0.00</a:t>
            </a:r>
          </a:p>
        </p:txBody>
      </p:sp>
      <p:sp>
        <p:nvSpPr>
          <p:cNvPr id="34" name="TextBox 33"/>
          <p:cNvSpPr txBox="1"/>
          <p:nvPr/>
        </p:nvSpPr>
        <p:spPr>
          <a:xfrm>
            <a:off x="6037437" y="5047488"/>
            <a:ext cx="548640" cy="182880"/>
          </a:xfrm>
          <a:prstGeom prst="rect">
            <a:avLst/>
          </a:prstGeom>
          <a:noFill/>
        </p:spPr>
        <p:txBody>
          <a:bodyPr wrap="square" lIns="0" rIns="0" tIns="0" bIns="0" anchor="t">
            <a:spAutoFit/>
          </a:bodyPr>
          <a:lstStyle/>
          <a:p>
            <a:pPr algn="ctr">
              <a:lnSpc>
                <a:spcPct val="116000"/>
              </a:lnSpc>
              <a:spcBef>
                <a:spcPts val="0"/>
              </a:spcBef>
              <a:spcAft>
                <a:spcPts val="0"/>
              </a:spcAft>
            </a:pPr>
            <a:r>
              <a:rPr sz="750" b="0" i="0">
                <a:solidFill>
                  <a:srgbClr val="979797"/>
                </a:solidFill>
                <a:latin typeface="Segoe UI"/>
              </a:rPr>
              <a:t>0.25</a:t>
            </a:r>
          </a:p>
        </p:txBody>
      </p:sp>
      <p:sp>
        <p:nvSpPr>
          <p:cNvPr id="35" name="TextBox 34"/>
          <p:cNvSpPr txBox="1"/>
          <p:nvPr/>
        </p:nvSpPr>
        <p:spPr>
          <a:xfrm>
            <a:off x="7026554" y="5047488"/>
            <a:ext cx="548640" cy="182880"/>
          </a:xfrm>
          <a:prstGeom prst="rect">
            <a:avLst/>
          </a:prstGeom>
          <a:noFill/>
        </p:spPr>
        <p:txBody>
          <a:bodyPr wrap="square" lIns="0" rIns="0" tIns="0" bIns="0" anchor="t">
            <a:spAutoFit/>
          </a:bodyPr>
          <a:lstStyle/>
          <a:p>
            <a:pPr algn="ctr">
              <a:lnSpc>
                <a:spcPct val="116000"/>
              </a:lnSpc>
              <a:spcBef>
                <a:spcPts val="0"/>
              </a:spcBef>
              <a:spcAft>
                <a:spcPts val="0"/>
              </a:spcAft>
            </a:pPr>
            <a:r>
              <a:rPr sz="750" b="0" i="0">
                <a:solidFill>
                  <a:srgbClr val="979797"/>
                </a:solidFill>
                <a:latin typeface="Segoe UI"/>
              </a:rPr>
              <a:t>0.50</a:t>
            </a:r>
          </a:p>
        </p:txBody>
      </p:sp>
      <p:sp>
        <p:nvSpPr>
          <p:cNvPr id="36" name="TextBox 35"/>
          <p:cNvSpPr txBox="1"/>
          <p:nvPr/>
        </p:nvSpPr>
        <p:spPr>
          <a:xfrm>
            <a:off x="8015670" y="5047488"/>
            <a:ext cx="548640" cy="182880"/>
          </a:xfrm>
          <a:prstGeom prst="rect">
            <a:avLst/>
          </a:prstGeom>
          <a:noFill/>
        </p:spPr>
        <p:txBody>
          <a:bodyPr wrap="square" lIns="0" rIns="0" tIns="0" bIns="0" anchor="t">
            <a:spAutoFit/>
          </a:bodyPr>
          <a:lstStyle/>
          <a:p>
            <a:pPr algn="ctr">
              <a:lnSpc>
                <a:spcPct val="116000"/>
              </a:lnSpc>
              <a:spcBef>
                <a:spcPts val="0"/>
              </a:spcBef>
              <a:spcAft>
                <a:spcPts val="0"/>
              </a:spcAft>
            </a:pPr>
            <a:r>
              <a:rPr sz="750" b="0" i="0">
                <a:solidFill>
                  <a:srgbClr val="979797"/>
                </a:solidFill>
                <a:latin typeface="Segoe UI"/>
              </a:rPr>
              <a:t>0.75</a:t>
            </a:r>
          </a:p>
        </p:txBody>
      </p:sp>
      <p:sp>
        <p:nvSpPr>
          <p:cNvPr id="37" name="TextBox 36"/>
          <p:cNvSpPr txBox="1"/>
          <p:nvPr/>
        </p:nvSpPr>
        <p:spPr>
          <a:xfrm>
            <a:off x="9005620" y="5047488"/>
            <a:ext cx="548640" cy="182880"/>
          </a:xfrm>
          <a:prstGeom prst="rect">
            <a:avLst/>
          </a:prstGeom>
          <a:noFill/>
        </p:spPr>
        <p:txBody>
          <a:bodyPr wrap="square" lIns="0" rIns="0" tIns="0" bIns="0" anchor="t">
            <a:spAutoFit/>
          </a:bodyPr>
          <a:lstStyle/>
          <a:p>
            <a:pPr algn="ctr">
              <a:lnSpc>
                <a:spcPct val="116000"/>
              </a:lnSpc>
              <a:spcBef>
                <a:spcPts val="0"/>
              </a:spcBef>
              <a:spcAft>
                <a:spcPts val="0"/>
              </a:spcAft>
            </a:pPr>
            <a:r>
              <a:rPr sz="750" b="0" i="0">
                <a:solidFill>
                  <a:srgbClr val="979797"/>
                </a:solidFill>
                <a:latin typeface="Segoe UI"/>
              </a:rPr>
              <a:t>1.00</a:t>
            </a:r>
          </a:p>
        </p:txBody>
      </p:sp>
      <p:sp>
        <p:nvSpPr>
          <p:cNvPr id="38" name="TextBox 37"/>
          <p:cNvSpPr txBox="1"/>
          <p:nvPr/>
        </p:nvSpPr>
        <p:spPr>
          <a:xfrm>
            <a:off x="9995570" y="5047488"/>
            <a:ext cx="548640" cy="182880"/>
          </a:xfrm>
          <a:prstGeom prst="rect">
            <a:avLst/>
          </a:prstGeom>
          <a:noFill/>
        </p:spPr>
        <p:txBody>
          <a:bodyPr wrap="square" lIns="0" rIns="0" tIns="0" bIns="0" anchor="t">
            <a:spAutoFit/>
          </a:bodyPr>
          <a:lstStyle/>
          <a:p>
            <a:pPr algn="ctr">
              <a:lnSpc>
                <a:spcPct val="116000"/>
              </a:lnSpc>
              <a:spcBef>
                <a:spcPts val="0"/>
              </a:spcBef>
              <a:spcAft>
                <a:spcPts val="0"/>
              </a:spcAft>
            </a:pPr>
            <a:r>
              <a:rPr sz="750" b="0" i="0">
                <a:solidFill>
                  <a:srgbClr val="979797"/>
                </a:solidFill>
                <a:latin typeface="Segoe UI"/>
              </a:rPr>
              <a:t>1.25</a:t>
            </a:r>
          </a:p>
        </p:txBody>
      </p:sp>
      <p:sp>
        <p:nvSpPr>
          <p:cNvPr id="39" name="TextBox 38"/>
          <p:cNvSpPr txBox="1"/>
          <p:nvPr/>
        </p:nvSpPr>
        <p:spPr>
          <a:xfrm>
            <a:off x="10984687" y="5047488"/>
            <a:ext cx="548640" cy="182880"/>
          </a:xfrm>
          <a:prstGeom prst="rect">
            <a:avLst/>
          </a:prstGeom>
          <a:noFill/>
        </p:spPr>
        <p:txBody>
          <a:bodyPr wrap="square" lIns="0" rIns="0" tIns="0" bIns="0" anchor="t">
            <a:spAutoFit/>
          </a:bodyPr>
          <a:lstStyle/>
          <a:p>
            <a:pPr algn="ctr">
              <a:lnSpc>
                <a:spcPct val="116000"/>
              </a:lnSpc>
              <a:spcBef>
                <a:spcPts val="0"/>
              </a:spcBef>
              <a:spcAft>
                <a:spcPts val="0"/>
              </a:spcAft>
            </a:pPr>
            <a:r>
              <a:rPr sz="750" b="0" i="0">
                <a:solidFill>
                  <a:srgbClr val="979797"/>
                </a:solidFill>
                <a:latin typeface="Segoe UI"/>
              </a:rPr>
              <a:t>1.50</a:t>
            </a:r>
          </a:p>
        </p:txBody>
      </p:sp>
      <p:sp>
        <p:nvSpPr>
          <p:cNvPr id="40" name="Rectangle 39"/>
          <p:cNvSpPr/>
          <p:nvPr/>
        </p:nvSpPr>
        <p:spPr>
          <a:xfrm>
            <a:off x="5321808" y="4422038"/>
            <a:ext cx="5937199" cy="10972"/>
          </a:xfrm>
          <a:prstGeom prst="rect">
            <a:avLst/>
          </a:prstGeom>
          <a:solidFill>
            <a:srgbClr val="C7A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81567" y="4202582"/>
            <a:ext cx="2377440" cy="201168"/>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461D9C"/>
                </a:solidFill>
                <a:latin typeface="Segoe UI"/>
              </a:rPr>
              <a:t>beta* = 0.10, pre-registered</a:t>
            </a:r>
          </a:p>
        </p:txBody>
      </p:sp>
      <p:sp>
        <p:nvSpPr>
          <p:cNvPr id="42" name="Freeform 41"/>
          <p:cNvSpPr/>
          <p:nvPr/>
        </p:nvSpPr>
        <p:spPr>
          <a:xfrm>
            <a:off x="5321808" y="1970660"/>
            <a:ext cx="6333012" cy="2901481"/>
          </a:xfrm>
          <a:custGeom>
            <a:avLst/>
            <a:gdLst/>
            <a:ahLst/>
            <a:cxnLst/>
            <a:rect l="l" t="t" r="r" b="b"/>
            <a:pathLst>
              <a:path w="6333012" h="2901481">
                <a:moveTo>
                  <a:pt x="0" y="0"/>
                </a:moveTo>
                <a:lnTo>
                  <a:pt x="39997" y="71930"/>
                </a:lnTo>
                <a:lnTo>
                  <a:pt x="79162" y="143860"/>
                </a:lnTo>
                <a:lnTo>
                  <a:pt x="118327" y="213992"/>
                </a:lnTo>
                <a:lnTo>
                  <a:pt x="158325" y="283225"/>
                </a:lnTo>
                <a:lnTo>
                  <a:pt x="198323" y="350659"/>
                </a:lnTo>
                <a:lnTo>
                  <a:pt x="237487" y="417194"/>
                </a:lnTo>
                <a:lnTo>
                  <a:pt x="276652" y="482831"/>
                </a:lnTo>
                <a:lnTo>
                  <a:pt x="316650" y="545769"/>
                </a:lnTo>
                <a:lnTo>
                  <a:pt x="356648" y="607809"/>
                </a:lnTo>
                <a:lnTo>
                  <a:pt x="395813" y="669849"/>
                </a:lnTo>
                <a:lnTo>
                  <a:pt x="434977" y="731889"/>
                </a:lnTo>
                <a:lnTo>
                  <a:pt x="474975" y="793928"/>
                </a:lnTo>
                <a:lnTo>
                  <a:pt x="514973" y="855069"/>
                </a:lnTo>
                <a:lnTo>
                  <a:pt x="554138" y="914411"/>
                </a:lnTo>
                <a:lnTo>
                  <a:pt x="593303" y="972854"/>
                </a:lnTo>
                <a:lnTo>
                  <a:pt x="633301" y="1029499"/>
                </a:lnTo>
                <a:lnTo>
                  <a:pt x="673299" y="1085245"/>
                </a:lnTo>
                <a:lnTo>
                  <a:pt x="712463" y="1139193"/>
                </a:lnTo>
                <a:lnTo>
                  <a:pt x="751628" y="1192241"/>
                </a:lnTo>
                <a:lnTo>
                  <a:pt x="791626" y="1243492"/>
                </a:lnTo>
                <a:lnTo>
                  <a:pt x="831624" y="1293843"/>
                </a:lnTo>
                <a:lnTo>
                  <a:pt x="870789" y="1342395"/>
                </a:lnTo>
                <a:lnTo>
                  <a:pt x="909953" y="1389150"/>
                </a:lnTo>
                <a:lnTo>
                  <a:pt x="949951" y="1433207"/>
                </a:lnTo>
                <a:lnTo>
                  <a:pt x="989949" y="1477264"/>
                </a:lnTo>
                <a:lnTo>
                  <a:pt x="1029114" y="1522221"/>
                </a:lnTo>
                <a:lnTo>
                  <a:pt x="1068279" y="1565379"/>
                </a:lnTo>
                <a:lnTo>
                  <a:pt x="1108277" y="1607638"/>
                </a:lnTo>
                <a:lnTo>
                  <a:pt x="1148275" y="1648098"/>
                </a:lnTo>
                <a:lnTo>
                  <a:pt x="1187439" y="1687660"/>
                </a:lnTo>
                <a:lnTo>
                  <a:pt x="1226604" y="1727222"/>
                </a:lnTo>
                <a:lnTo>
                  <a:pt x="1266602" y="1764985"/>
                </a:lnTo>
                <a:lnTo>
                  <a:pt x="1306600" y="1803647"/>
                </a:lnTo>
                <a:lnTo>
                  <a:pt x="1345765" y="1839612"/>
                </a:lnTo>
                <a:lnTo>
                  <a:pt x="1384929" y="1874678"/>
                </a:lnTo>
                <a:lnTo>
                  <a:pt x="1424927" y="1909744"/>
                </a:lnTo>
                <a:lnTo>
                  <a:pt x="1464092" y="1943012"/>
                </a:lnTo>
                <a:lnTo>
                  <a:pt x="1504090" y="1975380"/>
                </a:lnTo>
                <a:lnTo>
                  <a:pt x="1543255" y="2006850"/>
                </a:lnTo>
                <a:lnTo>
                  <a:pt x="1583253" y="2037420"/>
                </a:lnTo>
                <a:lnTo>
                  <a:pt x="1623251" y="2067091"/>
                </a:lnTo>
                <a:lnTo>
                  <a:pt x="1662415" y="2094964"/>
                </a:lnTo>
                <a:lnTo>
                  <a:pt x="1701580" y="2122837"/>
                </a:lnTo>
                <a:lnTo>
                  <a:pt x="1741578" y="2148912"/>
                </a:lnTo>
                <a:lnTo>
                  <a:pt x="1781576" y="2174986"/>
                </a:lnTo>
                <a:lnTo>
                  <a:pt x="1820741" y="2201061"/>
                </a:lnTo>
                <a:lnTo>
                  <a:pt x="1859905" y="2225338"/>
                </a:lnTo>
                <a:lnTo>
                  <a:pt x="1899903" y="2249614"/>
                </a:lnTo>
                <a:lnTo>
                  <a:pt x="1939901" y="2272092"/>
                </a:lnTo>
                <a:lnTo>
                  <a:pt x="1979066" y="2293671"/>
                </a:lnTo>
                <a:lnTo>
                  <a:pt x="2018231" y="2315250"/>
                </a:lnTo>
                <a:lnTo>
                  <a:pt x="2058229" y="2335930"/>
                </a:lnTo>
                <a:lnTo>
                  <a:pt x="2098227" y="2355711"/>
                </a:lnTo>
                <a:lnTo>
                  <a:pt x="2137391" y="2375492"/>
                </a:lnTo>
                <a:lnTo>
                  <a:pt x="2176556" y="2396172"/>
                </a:lnTo>
                <a:lnTo>
                  <a:pt x="2216554" y="2415053"/>
                </a:lnTo>
                <a:lnTo>
                  <a:pt x="2256552" y="2433935"/>
                </a:lnTo>
                <a:lnTo>
                  <a:pt x="2295717" y="2451917"/>
                </a:lnTo>
                <a:lnTo>
                  <a:pt x="2334881" y="2469900"/>
                </a:lnTo>
                <a:lnTo>
                  <a:pt x="2374879" y="2486084"/>
                </a:lnTo>
                <a:lnTo>
                  <a:pt x="2414877" y="2502268"/>
                </a:lnTo>
                <a:lnTo>
                  <a:pt x="2454042" y="2517554"/>
                </a:lnTo>
                <a:lnTo>
                  <a:pt x="2493207" y="2531940"/>
                </a:lnTo>
                <a:lnTo>
                  <a:pt x="2533204" y="2546326"/>
                </a:lnTo>
                <a:lnTo>
                  <a:pt x="2573202" y="2558913"/>
                </a:lnTo>
                <a:lnTo>
                  <a:pt x="2612367" y="2571501"/>
                </a:lnTo>
                <a:lnTo>
                  <a:pt x="2651532" y="2584089"/>
                </a:lnTo>
                <a:lnTo>
                  <a:pt x="2691530" y="2594878"/>
                </a:lnTo>
                <a:lnTo>
                  <a:pt x="2731528" y="2606567"/>
                </a:lnTo>
                <a:lnTo>
                  <a:pt x="2770692" y="2617357"/>
                </a:lnTo>
                <a:lnTo>
                  <a:pt x="2809857" y="2627247"/>
                </a:lnTo>
                <a:lnTo>
                  <a:pt x="2849855" y="2636238"/>
                </a:lnTo>
                <a:lnTo>
                  <a:pt x="2889853" y="2646129"/>
                </a:lnTo>
                <a:lnTo>
                  <a:pt x="2929018" y="2653322"/>
                </a:lnTo>
                <a:lnTo>
                  <a:pt x="2968182" y="2660515"/>
                </a:lnTo>
                <a:lnTo>
                  <a:pt x="3008180" y="2667708"/>
                </a:lnTo>
                <a:lnTo>
                  <a:pt x="3048178" y="2674002"/>
                </a:lnTo>
                <a:lnTo>
                  <a:pt x="3087343" y="2680295"/>
                </a:lnTo>
                <a:lnTo>
                  <a:pt x="3126508" y="2686589"/>
                </a:lnTo>
                <a:lnTo>
                  <a:pt x="3166506" y="2692883"/>
                </a:lnTo>
                <a:lnTo>
                  <a:pt x="3205670" y="2700076"/>
                </a:lnTo>
                <a:lnTo>
                  <a:pt x="3245668" y="2706370"/>
                </a:lnTo>
                <a:lnTo>
                  <a:pt x="3284833" y="2713563"/>
                </a:lnTo>
                <a:lnTo>
                  <a:pt x="3324831" y="2719857"/>
                </a:lnTo>
                <a:lnTo>
                  <a:pt x="3364829" y="2726151"/>
                </a:lnTo>
                <a:lnTo>
                  <a:pt x="3403994" y="2732445"/>
                </a:lnTo>
                <a:lnTo>
                  <a:pt x="3443158" y="2738739"/>
                </a:lnTo>
                <a:lnTo>
                  <a:pt x="3483156" y="2745033"/>
                </a:lnTo>
                <a:lnTo>
                  <a:pt x="3522321" y="2751326"/>
                </a:lnTo>
                <a:lnTo>
                  <a:pt x="3562319" y="2756721"/>
                </a:lnTo>
                <a:lnTo>
                  <a:pt x="3601484" y="2761217"/>
                </a:lnTo>
                <a:lnTo>
                  <a:pt x="3641482" y="2766612"/>
                </a:lnTo>
                <a:lnTo>
                  <a:pt x="3681480" y="2771107"/>
                </a:lnTo>
                <a:lnTo>
                  <a:pt x="3720644" y="2775603"/>
                </a:lnTo>
                <a:lnTo>
                  <a:pt x="3759809" y="2780099"/>
                </a:lnTo>
                <a:lnTo>
                  <a:pt x="3799807" y="2784594"/>
                </a:lnTo>
                <a:lnTo>
                  <a:pt x="3839805" y="2788191"/>
                </a:lnTo>
                <a:lnTo>
                  <a:pt x="3878970" y="2791787"/>
                </a:lnTo>
                <a:lnTo>
                  <a:pt x="3918134" y="2796283"/>
                </a:lnTo>
                <a:lnTo>
                  <a:pt x="3958132" y="2799879"/>
                </a:lnTo>
                <a:lnTo>
                  <a:pt x="3998130" y="2802577"/>
                </a:lnTo>
                <a:lnTo>
                  <a:pt x="4037295" y="2806173"/>
                </a:lnTo>
                <a:lnTo>
                  <a:pt x="4076460" y="2808871"/>
                </a:lnTo>
                <a:lnTo>
                  <a:pt x="4116458" y="2812467"/>
                </a:lnTo>
                <a:lnTo>
                  <a:pt x="4156456" y="2815164"/>
                </a:lnTo>
                <a:lnTo>
                  <a:pt x="4195620" y="2817862"/>
                </a:lnTo>
                <a:lnTo>
                  <a:pt x="4234785" y="2820559"/>
                </a:lnTo>
                <a:lnTo>
                  <a:pt x="4274783" y="2824156"/>
                </a:lnTo>
                <a:lnTo>
                  <a:pt x="4314781" y="2826853"/>
                </a:lnTo>
                <a:lnTo>
                  <a:pt x="4353946" y="2829550"/>
                </a:lnTo>
                <a:lnTo>
                  <a:pt x="4393110" y="2832248"/>
                </a:lnTo>
                <a:lnTo>
                  <a:pt x="4433108" y="2834945"/>
                </a:lnTo>
                <a:lnTo>
                  <a:pt x="4473106" y="2837643"/>
                </a:lnTo>
                <a:lnTo>
                  <a:pt x="4512271" y="2840340"/>
                </a:lnTo>
                <a:lnTo>
                  <a:pt x="4551436" y="2842138"/>
                </a:lnTo>
                <a:lnTo>
                  <a:pt x="4591434" y="2843936"/>
                </a:lnTo>
                <a:lnTo>
                  <a:pt x="4631432" y="2845735"/>
                </a:lnTo>
                <a:lnTo>
                  <a:pt x="4670596" y="2847533"/>
                </a:lnTo>
                <a:lnTo>
                  <a:pt x="4709761" y="2849331"/>
                </a:lnTo>
                <a:lnTo>
                  <a:pt x="4749759" y="2850230"/>
                </a:lnTo>
                <a:lnTo>
                  <a:pt x="4789757" y="2852029"/>
                </a:lnTo>
                <a:lnTo>
                  <a:pt x="4828922" y="2853827"/>
                </a:lnTo>
                <a:lnTo>
                  <a:pt x="4868086" y="2854726"/>
                </a:lnTo>
                <a:lnTo>
                  <a:pt x="4908084" y="2856524"/>
                </a:lnTo>
                <a:lnTo>
                  <a:pt x="4948082" y="2857423"/>
                </a:lnTo>
                <a:lnTo>
                  <a:pt x="4987247" y="2859222"/>
                </a:lnTo>
                <a:lnTo>
                  <a:pt x="5026412" y="2861020"/>
                </a:lnTo>
                <a:lnTo>
                  <a:pt x="5066409" y="2861919"/>
                </a:lnTo>
                <a:lnTo>
                  <a:pt x="5106407" y="2863717"/>
                </a:lnTo>
                <a:lnTo>
                  <a:pt x="5145572" y="2864616"/>
                </a:lnTo>
                <a:lnTo>
                  <a:pt x="5184737" y="2866415"/>
                </a:lnTo>
                <a:lnTo>
                  <a:pt x="5224735" y="2868213"/>
                </a:lnTo>
                <a:lnTo>
                  <a:pt x="5264733" y="2870011"/>
                </a:lnTo>
                <a:lnTo>
                  <a:pt x="5303897" y="2871809"/>
                </a:lnTo>
                <a:lnTo>
                  <a:pt x="5343062" y="2873608"/>
                </a:lnTo>
                <a:lnTo>
                  <a:pt x="5383060" y="2875406"/>
                </a:lnTo>
                <a:lnTo>
                  <a:pt x="5423058" y="2877204"/>
                </a:lnTo>
                <a:lnTo>
                  <a:pt x="5462223" y="2879002"/>
                </a:lnTo>
                <a:lnTo>
                  <a:pt x="5501387" y="2880801"/>
                </a:lnTo>
                <a:lnTo>
                  <a:pt x="5541385" y="2882599"/>
                </a:lnTo>
                <a:lnTo>
                  <a:pt x="5581383" y="2883498"/>
                </a:lnTo>
                <a:lnTo>
                  <a:pt x="5620548" y="2885296"/>
                </a:lnTo>
                <a:lnTo>
                  <a:pt x="5660546" y="2886195"/>
                </a:lnTo>
                <a:lnTo>
                  <a:pt x="5699711" y="2887994"/>
                </a:lnTo>
                <a:lnTo>
                  <a:pt x="5739709" y="2888893"/>
                </a:lnTo>
                <a:lnTo>
                  <a:pt x="5778873" y="2890691"/>
                </a:lnTo>
                <a:lnTo>
                  <a:pt x="5818038" y="2891590"/>
                </a:lnTo>
                <a:lnTo>
                  <a:pt x="5858036" y="2892489"/>
                </a:lnTo>
                <a:lnTo>
                  <a:pt x="5898034" y="2893388"/>
                </a:lnTo>
                <a:lnTo>
                  <a:pt x="5937199" y="2894288"/>
                </a:lnTo>
                <a:lnTo>
                  <a:pt x="5976363" y="2895187"/>
                </a:lnTo>
                <a:lnTo>
                  <a:pt x="6016361" y="2896086"/>
                </a:lnTo>
                <a:lnTo>
                  <a:pt x="6055526" y="2896985"/>
                </a:lnTo>
                <a:lnTo>
                  <a:pt x="6095524" y="2896985"/>
                </a:lnTo>
                <a:lnTo>
                  <a:pt x="6134689" y="2897884"/>
                </a:lnTo>
                <a:lnTo>
                  <a:pt x="6174687" y="2898783"/>
                </a:lnTo>
                <a:lnTo>
                  <a:pt x="6214685" y="2899682"/>
                </a:lnTo>
                <a:lnTo>
                  <a:pt x="6253849" y="2900581"/>
                </a:lnTo>
                <a:lnTo>
                  <a:pt x="6293014" y="2900581"/>
                </a:lnTo>
                <a:lnTo>
                  <a:pt x="6333012" y="2901481"/>
                </a:lnTo>
                <a:lnTo>
                  <a:pt x="6333012" y="2901481"/>
                </a:lnTo>
              </a:path>
            </a:pathLst>
          </a:custGeom>
          <a:noFill/>
          <a:ln w="41275">
            <a:solidFill>
              <a:srgbClr val="CBCB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5321808" y="1959870"/>
            <a:ext cx="6333012" cy="2889792"/>
          </a:xfrm>
          <a:custGeom>
            <a:avLst/>
            <a:gdLst/>
            <a:ahLst/>
            <a:cxnLst/>
            <a:rect l="l" t="t" r="r" b="b"/>
            <a:pathLst>
              <a:path w="6333012" h="2889792">
                <a:moveTo>
                  <a:pt x="0" y="0"/>
                </a:moveTo>
                <a:lnTo>
                  <a:pt x="39997" y="71930"/>
                </a:lnTo>
                <a:lnTo>
                  <a:pt x="79162" y="142961"/>
                </a:lnTo>
                <a:lnTo>
                  <a:pt x="118327" y="213093"/>
                </a:lnTo>
                <a:lnTo>
                  <a:pt x="158325" y="281427"/>
                </a:lnTo>
                <a:lnTo>
                  <a:pt x="198323" y="349760"/>
                </a:lnTo>
                <a:lnTo>
                  <a:pt x="237487" y="415397"/>
                </a:lnTo>
                <a:lnTo>
                  <a:pt x="276652" y="481033"/>
                </a:lnTo>
                <a:lnTo>
                  <a:pt x="316650" y="543073"/>
                </a:lnTo>
                <a:lnTo>
                  <a:pt x="356648" y="605112"/>
                </a:lnTo>
                <a:lnTo>
                  <a:pt x="395813" y="667152"/>
                </a:lnTo>
                <a:lnTo>
                  <a:pt x="434977" y="729192"/>
                </a:lnTo>
                <a:lnTo>
                  <a:pt x="474975" y="790332"/>
                </a:lnTo>
                <a:lnTo>
                  <a:pt x="514973" y="851473"/>
                </a:lnTo>
                <a:lnTo>
                  <a:pt x="554138" y="910815"/>
                </a:lnTo>
                <a:lnTo>
                  <a:pt x="593303" y="968359"/>
                </a:lnTo>
                <a:lnTo>
                  <a:pt x="633301" y="1025004"/>
                </a:lnTo>
                <a:lnTo>
                  <a:pt x="673299" y="1080750"/>
                </a:lnTo>
                <a:lnTo>
                  <a:pt x="712463" y="1134698"/>
                </a:lnTo>
                <a:lnTo>
                  <a:pt x="751628" y="1187746"/>
                </a:lnTo>
                <a:lnTo>
                  <a:pt x="791626" y="1238996"/>
                </a:lnTo>
                <a:lnTo>
                  <a:pt x="831624" y="1288448"/>
                </a:lnTo>
                <a:lnTo>
                  <a:pt x="870789" y="1337001"/>
                </a:lnTo>
                <a:lnTo>
                  <a:pt x="909953" y="1382857"/>
                </a:lnTo>
                <a:lnTo>
                  <a:pt x="949951" y="1427813"/>
                </a:lnTo>
                <a:lnTo>
                  <a:pt x="989949" y="1471870"/>
                </a:lnTo>
                <a:lnTo>
                  <a:pt x="1029114" y="1515927"/>
                </a:lnTo>
                <a:lnTo>
                  <a:pt x="1068279" y="1559085"/>
                </a:lnTo>
                <a:lnTo>
                  <a:pt x="1108277" y="1601344"/>
                </a:lnTo>
                <a:lnTo>
                  <a:pt x="1148275" y="1641805"/>
                </a:lnTo>
                <a:lnTo>
                  <a:pt x="1187439" y="1680467"/>
                </a:lnTo>
                <a:lnTo>
                  <a:pt x="1226604" y="1720029"/>
                </a:lnTo>
                <a:lnTo>
                  <a:pt x="1266602" y="1758691"/>
                </a:lnTo>
                <a:lnTo>
                  <a:pt x="1306600" y="1796455"/>
                </a:lnTo>
                <a:lnTo>
                  <a:pt x="1345765" y="1832420"/>
                </a:lnTo>
                <a:lnTo>
                  <a:pt x="1384929" y="1867486"/>
                </a:lnTo>
                <a:lnTo>
                  <a:pt x="1424927" y="1902552"/>
                </a:lnTo>
                <a:lnTo>
                  <a:pt x="1464092" y="1935819"/>
                </a:lnTo>
                <a:lnTo>
                  <a:pt x="1504090" y="1968188"/>
                </a:lnTo>
                <a:lnTo>
                  <a:pt x="1543255" y="1998758"/>
                </a:lnTo>
                <a:lnTo>
                  <a:pt x="1583253" y="2029328"/>
                </a:lnTo>
                <a:lnTo>
                  <a:pt x="1623251" y="2058101"/>
                </a:lnTo>
                <a:lnTo>
                  <a:pt x="1662415" y="2086873"/>
                </a:lnTo>
                <a:lnTo>
                  <a:pt x="1701580" y="2113846"/>
                </a:lnTo>
                <a:lnTo>
                  <a:pt x="1741578" y="2140820"/>
                </a:lnTo>
                <a:lnTo>
                  <a:pt x="1781576" y="2166895"/>
                </a:lnTo>
                <a:lnTo>
                  <a:pt x="1820741" y="2192070"/>
                </a:lnTo>
                <a:lnTo>
                  <a:pt x="1859905" y="2216347"/>
                </a:lnTo>
                <a:lnTo>
                  <a:pt x="1899903" y="2240623"/>
                </a:lnTo>
                <a:lnTo>
                  <a:pt x="1939901" y="2263101"/>
                </a:lnTo>
                <a:lnTo>
                  <a:pt x="1979066" y="2284680"/>
                </a:lnTo>
                <a:lnTo>
                  <a:pt x="2018231" y="2305360"/>
                </a:lnTo>
                <a:lnTo>
                  <a:pt x="2058229" y="2326040"/>
                </a:lnTo>
                <a:lnTo>
                  <a:pt x="2098227" y="2345821"/>
                </a:lnTo>
                <a:lnTo>
                  <a:pt x="2137391" y="2366501"/>
                </a:lnTo>
                <a:lnTo>
                  <a:pt x="2176556" y="2386282"/>
                </a:lnTo>
                <a:lnTo>
                  <a:pt x="2216554" y="2405163"/>
                </a:lnTo>
                <a:lnTo>
                  <a:pt x="2256552" y="2424045"/>
                </a:lnTo>
                <a:lnTo>
                  <a:pt x="2295717" y="2442927"/>
                </a:lnTo>
                <a:lnTo>
                  <a:pt x="2334881" y="2460010"/>
                </a:lnTo>
                <a:lnTo>
                  <a:pt x="2374879" y="2476194"/>
                </a:lnTo>
                <a:lnTo>
                  <a:pt x="2414877" y="2492379"/>
                </a:lnTo>
                <a:lnTo>
                  <a:pt x="2454042" y="2507664"/>
                </a:lnTo>
                <a:lnTo>
                  <a:pt x="2493207" y="2522050"/>
                </a:lnTo>
                <a:lnTo>
                  <a:pt x="2533204" y="2536436"/>
                </a:lnTo>
                <a:lnTo>
                  <a:pt x="2573202" y="2549024"/>
                </a:lnTo>
                <a:lnTo>
                  <a:pt x="2612367" y="2561611"/>
                </a:lnTo>
                <a:lnTo>
                  <a:pt x="2651532" y="2573300"/>
                </a:lnTo>
                <a:lnTo>
                  <a:pt x="2691530" y="2584989"/>
                </a:lnTo>
                <a:lnTo>
                  <a:pt x="2731528" y="2595778"/>
                </a:lnTo>
                <a:lnTo>
                  <a:pt x="2770692" y="2606568"/>
                </a:lnTo>
                <a:lnTo>
                  <a:pt x="2809857" y="2616458"/>
                </a:lnTo>
                <a:lnTo>
                  <a:pt x="2849855" y="2626348"/>
                </a:lnTo>
                <a:lnTo>
                  <a:pt x="2889853" y="2635340"/>
                </a:lnTo>
                <a:lnTo>
                  <a:pt x="2929018" y="2642533"/>
                </a:lnTo>
                <a:lnTo>
                  <a:pt x="2968182" y="2649726"/>
                </a:lnTo>
                <a:lnTo>
                  <a:pt x="3008180" y="2656919"/>
                </a:lnTo>
                <a:lnTo>
                  <a:pt x="3048178" y="2663213"/>
                </a:lnTo>
                <a:lnTo>
                  <a:pt x="3087343" y="2669506"/>
                </a:lnTo>
                <a:lnTo>
                  <a:pt x="3126508" y="2675800"/>
                </a:lnTo>
                <a:lnTo>
                  <a:pt x="3166506" y="2682094"/>
                </a:lnTo>
                <a:lnTo>
                  <a:pt x="3205670" y="2689287"/>
                </a:lnTo>
                <a:lnTo>
                  <a:pt x="3245668" y="2695581"/>
                </a:lnTo>
                <a:lnTo>
                  <a:pt x="3284833" y="2702774"/>
                </a:lnTo>
                <a:lnTo>
                  <a:pt x="3324831" y="2709068"/>
                </a:lnTo>
                <a:lnTo>
                  <a:pt x="3364829" y="2715362"/>
                </a:lnTo>
                <a:lnTo>
                  <a:pt x="3403994" y="2721656"/>
                </a:lnTo>
                <a:lnTo>
                  <a:pt x="3443158" y="2727950"/>
                </a:lnTo>
                <a:lnTo>
                  <a:pt x="3483156" y="2734244"/>
                </a:lnTo>
                <a:lnTo>
                  <a:pt x="3522321" y="2739638"/>
                </a:lnTo>
                <a:lnTo>
                  <a:pt x="3562319" y="2745033"/>
                </a:lnTo>
                <a:lnTo>
                  <a:pt x="3601484" y="2750428"/>
                </a:lnTo>
                <a:lnTo>
                  <a:pt x="3641482" y="2754923"/>
                </a:lnTo>
                <a:lnTo>
                  <a:pt x="3681480" y="2760318"/>
                </a:lnTo>
                <a:lnTo>
                  <a:pt x="3720644" y="2764814"/>
                </a:lnTo>
                <a:lnTo>
                  <a:pt x="3759809" y="2769309"/>
                </a:lnTo>
                <a:lnTo>
                  <a:pt x="3799807" y="2772906"/>
                </a:lnTo>
                <a:lnTo>
                  <a:pt x="3839805" y="2777402"/>
                </a:lnTo>
                <a:lnTo>
                  <a:pt x="3878970" y="2780998"/>
                </a:lnTo>
                <a:lnTo>
                  <a:pt x="3918134" y="2784595"/>
                </a:lnTo>
                <a:lnTo>
                  <a:pt x="3958132" y="2788191"/>
                </a:lnTo>
                <a:lnTo>
                  <a:pt x="3998130" y="2791788"/>
                </a:lnTo>
                <a:lnTo>
                  <a:pt x="4037295" y="2794485"/>
                </a:lnTo>
                <a:lnTo>
                  <a:pt x="4076460" y="2798082"/>
                </a:lnTo>
                <a:lnTo>
                  <a:pt x="4116458" y="2800779"/>
                </a:lnTo>
                <a:lnTo>
                  <a:pt x="4156456" y="2803476"/>
                </a:lnTo>
                <a:lnTo>
                  <a:pt x="4195620" y="2806174"/>
                </a:lnTo>
                <a:lnTo>
                  <a:pt x="4234785" y="2809770"/>
                </a:lnTo>
                <a:lnTo>
                  <a:pt x="4274783" y="2812468"/>
                </a:lnTo>
                <a:lnTo>
                  <a:pt x="4314781" y="2815165"/>
                </a:lnTo>
                <a:lnTo>
                  <a:pt x="4353946" y="2817862"/>
                </a:lnTo>
                <a:lnTo>
                  <a:pt x="4393110" y="2821459"/>
                </a:lnTo>
                <a:lnTo>
                  <a:pt x="4433108" y="2824156"/>
                </a:lnTo>
                <a:lnTo>
                  <a:pt x="4473106" y="2826854"/>
                </a:lnTo>
                <a:lnTo>
                  <a:pt x="4512271" y="2828652"/>
                </a:lnTo>
                <a:lnTo>
                  <a:pt x="4551436" y="2830450"/>
                </a:lnTo>
                <a:lnTo>
                  <a:pt x="4591434" y="2832248"/>
                </a:lnTo>
                <a:lnTo>
                  <a:pt x="4631432" y="2834047"/>
                </a:lnTo>
                <a:lnTo>
                  <a:pt x="4670596" y="2835845"/>
                </a:lnTo>
                <a:lnTo>
                  <a:pt x="4709761" y="2837643"/>
                </a:lnTo>
                <a:lnTo>
                  <a:pt x="4749759" y="2839441"/>
                </a:lnTo>
                <a:lnTo>
                  <a:pt x="4789757" y="2840340"/>
                </a:lnTo>
                <a:lnTo>
                  <a:pt x="4828922" y="2842139"/>
                </a:lnTo>
                <a:lnTo>
                  <a:pt x="4868086" y="2843038"/>
                </a:lnTo>
                <a:lnTo>
                  <a:pt x="4908084" y="2844836"/>
                </a:lnTo>
                <a:lnTo>
                  <a:pt x="4948082" y="2846634"/>
                </a:lnTo>
                <a:lnTo>
                  <a:pt x="4987247" y="2847533"/>
                </a:lnTo>
                <a:lnTo>
                  <a:pt x="5026412" y="2849332"/>
                </a:lnTo>
                <a:lnTo>
                  <a:pt x="5066409" y="2850231"/>
                </a:lnTo>
                <a:lnTo>
                  <a:pt x="5106407" y="2852029"/>
                </a:lnTo>
                <a:lnTo>
                  <a:pt x="5145572" y="2853827"/>
                </a:lnTo>
                <a:lnTo>
                  <a:pt x="5184737" y="2854726"/>
                </a:lnTo>
                <a:lnTo>
                  <a:pt x="5224735" y="2856525"/>
                </a:lnTo>
                <a:lnTo>
                  <a:pt x="5264733" y="2858323"/>
                </a:lnTo>
                <a:lnTo>
                  <a:pt x="5303897" y="2860121"/>
                </a:lnTo>
                <a:lnTo>
                  <a:pt x="5343062" y="2861919"/>
                </a:lnTo>
                <a:lnTo>
                  <a:pt x="5383060" y="2863718"/>
                </a:lnTo>
                <a:lnTo>
                  <a:pt x="5423058" y="2865516"/>
                </a:lnTo>
                <a:lnTo>
                  <a:pt x="5462223" y="2867314"/>
                </a:lnTo>
                <a:lnTo>
                  <a:pt x="5501387" y="2869112"/>
                </a:lnTo>
                <a:lnTo>
                  <a:pt x="5541385" y="2870911"/>
                </a:lnTo>
                <a:lnTo>
                  <a:pt x="5581383" y="2871810"/>
                </a:lnTo>
                <a:lnTo>
                  <a:pt x="5620548" y="2873608"/>
                </a:lnTo>
                <a:lnTo>
                  <a:pt x="5660546" y="2875406"/>
                </a:lnTo>
                <a:lnTo>
                  <a:pt x="5699711" y="2876306"/>
                </a:lnTo>
                <a:lnTo>
                  <a:pt x="5739709" y="2878104"/>
                </a:lnTo>
                <a:lnTo>
                  <a:pt x="5778873" y="2879003"/>
                </a:lnTo>
                <a:lnTo>
                  <a:pt x="5818038" y="2879902"/>
                </a:lnTo>
                <a:lnTo>
                  <a:pt x="5858036" y="2880801"/>
                </a:lnTo>
                <a:lnTo>
                  <a:pt x="5898034" y="2881700"/>
                </a:lnTo>
                <a:lnTo>
                  <a:pt x="5937199" y="2882599"/>
                </a:lnTo>
                <a:lnTo>
                  <a:pt x="5976363" y="2883499"/>
                </a:lnTo>
                <a:lnTo>
                  <a:pt x="6016361" y="2884398"/>
                </a:lnTo>
                <a:lnTo>
                  <a:pt x="6055526" y="2885297"/>
                </a:lnTo>
                <a:lnTo>
                  <a:pt x="6095524" y="2885297"/>
                </a:lnTo>
                <a:lnTo>
                  <a:pt x="6134689" y="2886196"/>
                </a:lnTo>
                <a:lnTo>
                  <a:pt x="6174687" y="2887095"/>
                </a:lnTo>
                <a:lnTo>
                  <a:pt x="6214685" y="2887994"/>
                </a:lnTo>
                <a:lnTo>
                  <a:pt x="6253849" y="2888893"/>
                </a:lnTo>
                <a:lnTo>
                  <a:pt x="6293014" y="2888893"/>
                </a:lnTo>
                <a:lnTo>
                  <a:pt x="6333012" y="2889792"/>
                </a:lnTo>
                <a:lnTo>
                  <a:pt x="6333012" y="2889792"/>
                </a:lnTo>
              </a:path>
            </a:pathLst>
          </a:custGeom>
          <a:noFill/>
          <a:ln w="25400">
            <a:solidFill>
              <a:srgbClr val="1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81901" y="2139696"/>
            <a:ext cx="10972" cy="228234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531609" y="4371746"/>
            <a:ext cx="100584" cy="100584"/>
          </a:xfrm>
          <a:prstGeom prst="ellipse">
            <a:avLst/>
          </a:prstGeom>
          <a:solidFill>
            <a:srgbClr val="FCD72B"/>
          </a:solidFill>
          <a:ln w="12700">
            <a:solidFill>
              <a:srgbClr val="1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91629" y="2157984"/>
            <a:ext cx="2743200" cy="457200"/>
          </a:xfrm>
          <a:prstGeom prst="rect">
            <a:avLst/>
          </a:prstGeom>
          <a:noFill/>
        </p:spPr>
        <p:txBody>
          <a:bodyPr wrap="square" lIns="0" rIns="0" tIns="0" bIns="0" anchor="t">
            <a:spAutoFit/>
          </a:bodyPr>
          <a:lstStyle/>
          <a:p>
            <a:pPr algn="l">
              <a:lnSpc>
                <a:spcPct val="116000"/>
              </a:lnSpc>
              <a:spcBef>
                <a:spcPts val="0"/>
              </a:spcBef>
              <a:spcAft>
                <a:spcPts val="100"/>
              </a:spcAft>
            </a:pPr>
            <a:r>
              <a:rPr sz="950" b="0" i="0">
                <a:solidFill>
                  <a:srgbClr val="101010"/>
                </a:solidFill>
                <a:latin typeface="Segoe UI Semibold"/>
              </a:rPr>
              <a:t>k = 0.571</a:t>
            </a:r>
          </a:p>
          <a:p>
            <a:pPr algn="l">
              <a:lnSpc>
                <a:spcPct val="116000"/>
              </a:lnSpc>
              <a:spcBef>
                <a:spcPts val="0"/>
              </a:spcBef>
              <a:spcAft>
                <a:spcPts val="400"/>
              </a:spcAft>
            </a:pPr>
            <a:r>
              <a:rPr sz="800" b="0" i="0">
                <a:solidFill>
                  <a:srgbClr val="626262"/>
                </a:solidFill>
                <a:latin typeface="Segoe UI"/>
              </a:rPr>
              <a:t>smallest radius certified at beta*</a:t>
            </a:r>
          </a:p>
        </p:txBody>
      </p:sp>
      <p:sp>
        <p:nvSpPr>
          <p:cNvPr id="47" name="Rectangle 46"/>
          <p:cNvSpPr/>
          <p:nvPr/>
        </p:nvSpPr>
        <p:spPr>
          <a:xfrm>
            <a:off x="5340096" y="5367528"/>
            <a:ext cx="201168" cy="9144"/>
          </a:xfrm>
          <a:prstGeom prst="rect">
            <a:avLst/>
          </a:prstGeom>
          <a:solidFill>
            <a:srgbClr val="CBC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96128" y="5303520"/>
            <a:ext cx="2651760" cy="18288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626262"/>
                </a:solidFill>
                <a:latin typeface="Segoe UI"/>
              </a:rPr>
              <a:t>empirical payout ratio of the calibration set</a:t>
            </a:r>
          </a:p>
        </p:txBody>
      </p:sp>
      <p:sp>
        <p:nvSpPr>
          <p:cNvPr id="49" name="Rectangle 48"/>
          <p:cNvSpPr/>
          <p:nvPr/>
        </p:nvSpPr>
        <p:spPr>
          <a:xfrm>
            <a:off x="8339328" y="5367528"/>
            <a:ext cx="201168" cy="9144"/>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95360" y="5303520"/>
            <a:ext cx="3657600" cy="18288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626262"/>
                </a:solidFill>
                <a:latin typeface="Segoe UI"/>
              </a:rPr>
              <a:t>certified curve — the two differ by 1/(n+1)</a:t>
            </a:r>
          </a:p>
        </p:txBody>
      </p:sp>
      <p:sp>
        <p:nvSpPr>
          <p:cNvPr id="51" name="TextBox 50"/>
          <p:cNvSpPr txBox="1"/>
          <p:nvPr/>
        </p:nvSpPr>
        <p:spPr>
          <a:xfrm>
            <a:off x="5321808" y="5541264"/>
            <a:ext cx="5937199" cy="384048"/>
          </a:xfrm>
          <a:prstGeom prst="rect">
            <a:avLst/>
          </a:prstGeom>
          <a:noFill/>
        </p:spPr>
        <p:txBody>
          <a:bodyPr wrap="square" lIns="0" rIns="0" tIns="0" bIns="0" anchor="t">
            <a:spAutoFit/>
          </a:bodyPr>
          <a:lstStyle/>
          <a:p>
            <a:pPr algn="ctr">
              <a:lnSpc>
                <a:spcPct val="116000"/>
              </a:lnSpc>
              <a:spcBef>
                <a:spcPts val="0"/>
              </a:spcBef>
              <a:spcAft>
                <a:spcPts val="200"/>
              </a:spcAft>
            </a:pPr>
            <a:r>
              <a:rPr sz="800" b="0" i="0">
                <a:solidFill>
                  <a:srgbClr val="979797"/>
                </a:solidFill>
                <a:latin typeface="Segoe UI"/>
              </a:rPr>
              <a:t>short-strike distance k, in implied moves ( |close / entry − 1| ÷ VIX-implied E|move| )</a:t>
            </a:r>
          </a:p>
          <a:p>
            <a:pPr algn="ctr">
              <a:lnSpc>
                <a:spcPct val="116000"/>
              </a:lnSpc>
              <a:spcBef>
                <a:spcPts val="0"/>
              </a:spcBef>
              <a:spcAft>
                <a:spcPts val="400"/>
              </a:spcAft>
            </a:pPr>
            <a:r>
              <a:rPr sz="800" b="0" i="0">
                <a:solidFill>
                  <a:srgbClr val="979797"/>
                </a:solidFill>
                <a:latin typeface="Segoe UI"/>
              </a:rPr>
              <a:t>trailing 250 calibration sessions, wing 0.64 implied moves</a:t>
            </a:r>
          </a:p>
        </p:txBody>
      </p:sp>
      <p:sp>
        <p:nvSpPr>
          <p:cNvPr id="52" name="TextBox 51"/>
          <p:cNvSpPr txBox="1"/>
          <p:nvPr/>
        </p:nvSpPr>
        <p:spPr>
          <a:xfrm>
            <a:off x="4754880" y="1865376"/>
            <a:ext cx="2194560" cy="18288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payout ÷ wing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400" b="0" i="0">
                <a:solidFill>
                  <a:srgbClr val="101010"/>
                </a:solidFill>
                <a:latin typeface="Segoe UI Semibold"/>
              </a:rPr>
              <a:t>The trade condition: market price against certified cost</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Sell only when the market pays at least the certified cost of the interval plus the modelled cost of trading it: credit / wing ≥ 0.10 + 0.05.</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[7] Breeden &amp; Litzenberger 1978. In the repository: [R1] docs/THEORY.md Lemma 2 and gate 31; [R2] docs/conformal_backfill.md, 618 calibrated sessions 2024-01-02 to 2026-09-01; [R5] docs/CONFIG_CHANGES.md, credit read at the expected fill from 2026-09-02.</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4</a:t>
            </a:r>
          </a:p>
        </p:txBody>
      </p:sp>
      <p:sp>
        <p:nvSpPr>
          <p:cNvPr id="9" name="Rectangle 8"/>
          <p:cNvSpPr/>
          <p:nvPr/>
        </p:nvSpPr>
        <p:spPr>
          <a:xfrm>
            <a:off x="2040940" y="2231136"/>
            <a:ext cx="2867558" cy="548640"/>
          </a:xfrm>
          <a:prstGeom prst="rect">
            <a:avLst/>
          </a:prstGeom>
          <a:solidFill>
            <a:srgbClr val="FEE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26464" y="2231136"/>
            <a:ext cx="614476" cy="5486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1993392"/>
            <a:ext cx="1126540" cy="182880"/>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626262"/>
                </a:solidFill>
                <a:latin typeface="Segoe UI"/>
              </a:rPr>
              <a:t>wing</a:t>
            </a:r>
          </a:p>
        </p:txBody>
      </p:sp>
      <p:sp>
        <p:nvSpPr>
          <p:cNvPr id="12" name="Rectangle 11"/>
          <p:cNvSpPr/>
          <p:nvPr/>
        </p:nvSpPr>
        <p:spPr>
          <a:xfrm>
            <a:off x="4908499" y="2231136"/>
            <a:ext cx="614476" cy="5486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2467" y="1993392"/>
            <a:ext cx="1126540" cy="182880"/>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626262"/>
                </a:solidFill>
                <a:latin typeface="Segoe UI"/>
              </a:rPr>
              <a:t>wing</a:t>
            </a:r>
          </a:p>
        </p:txBody>
      </p:sp>
      <p:sp>
        <p:nvSpPr>
          <p:cNvPr id="14" name="Rectangle 13"/>
          <p:cNvSpPr/>
          <p:nvPr/>
        </p:nvSpPr>
        <p:spPr>
          <a:xfrm>
            <a:off x="914400" y="2505456"/>
            <a:ext cx="5120640"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20977" y="2423160"/>
            <a:ext cx="10972" cy="164592"/>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2871216"/>
            <a:ext cx="768096" cy="182880"/>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979797"/>
                </a:solidFill>
                <a:latin typeface="Segoe UI"/>
              </a:rPr>
              <a:t>long put</a:t>
            </a:r>
          </a:p>
        </p:txBody>
      </p:sp>
      <p:sp>
        <p:nvSpPr>
          <p:cNvPr id="17" name="Rectangle 16"/>
          <p:cNvSpPr/>
          <p:nvPr/>
        </p:nvSpPr>
        <p:spPr>
          <a:xfrm>
            <a:off x="2035454" y="2359152"/>
            <a:ext cx="10972" cy="292608"/>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56892" y="2688336"/>
            <a:ext cx="768096" cy="182880"/>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101010"/>
                </a:solidFill>
                <a:latin typeface="Segoe UI Semibold"/>
              </a:rPr>
              <a:t>short put</a:t>
            </a:r>
          </a:p>
        </p:txBody>
      </p:sp>
      <p:sp>
        <p:nvSpPr>
          <p:cNvPr id="19" name="Rectangle 18"/>
          <p:cNvSpPr/>
          <p:nvPr/>
        </p:nvSpPr>
        <p:spPr>
          <a:xfrm>
            <a:off x="3469233" y="2423160"/>
            <a:ext cx="10972" cy="164592"/>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2871216"/>
            <a:ext cx="768096" cy="182880"/>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979797"/>
                </a:solidFill>
                <a:latin typeface="Segoe UI"/>
              </a:rPr>
              <a:t>spot</a:t>
            </a:r>
          </a:p>
        </p:txBody>
      </p:sp>
      <p:sp>
        <p:nvSpPr>
          <p:cNvPr id="21" name="Rectangle 20"/>
          <p:cNvSpPr/>
          <p:nvPr/>
        </p:nvSpPr>
        <p:spPr>
          <a:xfrm>
            <a:off x="4903012" y="2359152"/>
            <a:ext cx="10972" cy="292608"/>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4451" y="2688336"/>
            <a:ext cx="768096" cy="182880"/>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101010"/>
                </a:solidFill>
                <a:latin typeface="Segoe UI Semibold"/>
              </a:rPr>
              <a:t>short call</a:t>
            </a:r>
          </a:p>
        </p:txBody>
      </p:sp>
      <p:sp>
        <p:nvSpPr>
          <p:cNvPr id="23" name="Rectangle 22"/>
          <p:cNvSpPr/>
          <p:nvPr/>
        </p:nvSpPr>
        <p:spPr>
          <a:xfrm>
            <a:off x="5517489" y="2423160"/>
            <a:ext cx="10972" cy="164592"/>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38928" y="2871216"/>
            <a:ext cx="768096" cy="182880"/>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979797"/>
                </a:solidFill>
                <a:latin typeface="Segoe UI"/>
              </a:rPr>
              <a:t>long call</a:t>
            </a:r>
          </a:p>
        </p:txBody>
      </p:sp>
      <p:sp>
        <p:nvSpPr>
          <p:cNvPr id="25" name="TextBox 24"/>
          <p:cNvSpPr txBox="1"/>
          <p:nvPr/>
        </p:nvSpPr>
        <p:spPr>
          <a:xfrm>
            <a:off x="2040940" y="1700784"/>
            <a:ext cx="2867558" cy="219456"/>
          </a:xfrm>
          <a:prstGeom prst="rect">
            <a:avLst/>
          </a:prstGeom>
          <a:noFill/>
        </p:spPr>
        <p:txBody>
          <a:bodyPr wrap="square" lIns="0" rIns="0" tIns="0" bIns="0" anchor="t">
            <a:spAutoFit/>
          </a:bodyPr>
          <a:lstStyle/>
          <a:p>
            <a:pPr algn="ctr">
              <a:lnSpc>
                <a:spcPct val="116000"/>
              </a:lnSpc>
              <a:spcBef>
                <a:spcPts val="0"/>
              </a:spcBef>
              <a:spcAft>
                <a:spcPts val="0"/>
              </a:spcAft>
            </a:pPr>
            <a:r>
              <a:rPr sz="800" b="0" i="0">
                <a:solidFill>
                  <a:srgbClr val="101010"/>
                </a:solidFill>
                <a:latin typeface="Segoe UI Semibold"/>
              </a:rPr>
              <a:t>interval  =  spot ± certified radius × implied move</a:t>
            </a:r>
          </a:p>
        </p:txBody>
      </p:sp>
      <p:sp>
        <p:nvSpPr>
          <p:cNvPr id="26" name="Rectangle 25"/>
          <p:cNvSpPr/>
          <p:nvPr/>
        </p:nvSpPr>
        <p:spPr>
          <a:xfrm>
            <a:off x="914400" y="3529584"/>
            <a:ext cx="2048255" cy="420624"/>
          </a:xfrm>
          <a:prstGeom prst="rect">
            <a:avLst/>
          </a:prstGeom>
          <a:solidFill>
            <a:srgbClr val="2B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62656" y="3529584"/>
            <a:ext cx="1024127" cy="420624"/>
          </a:xfrm>
          <a:prstGeom prst="rect">
            <a:avLst/>
          </a:prstGeom>
          <a:solidFill>
            <a:srgbClr val="FEE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86783" y="3529584"/>
            <a:ext cx="2048255" cy="420624"/>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77639" y="3419856"/>
            <a:ext cx="18288" cy="64008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557015"/>
            <a:ext cx="2048255" cy="420624"/>
          </a:xfrm>
          <a:prstGeom prst="rect">
            <a:avLst/>
          </a:prstGeom>
          <a:noFill/>
        </p:spPr>
        <p:txBody>
          <a:bodyPr wrap="square" lIns="0" rIns="0" tIns="0" bIns="0" anchor="ctr">
            <a:spAutoFit/>
          </a:bodyPr>
          <a:lstStyle/>
          <a:p>
            <a:pPr algn="ctr">
              <a:lnSpc>
                <a:spcPct val="115000"/>
              </a:lnSpc>
              <a:spcBef>
                <a:spcPts val="0"/>
              </a:spcBef>
              <a:spcAft>
                <a:spcPts val="0"/>
              </a:spcAft>
            </a:pPr>
            <a:r>
              <a:rPr sz="800" b="0" i="0">
                <a:solidFill>
                  <a:srgbClr val="FDFDFD"/>
                </a:solidFill>
                <a:latin typeface="Segoe UI Semibold"/>
              </a:rPr>
              <a:t>certified cost</a:t>
            </a:r>
          </a:p>
          <a:p>
            <a:pPr algn="ctr">
              <a:lnSpc>
                <a:spcPct val="115000"/>
              </a:lnSpc>
              <a:spcBef>
                <a:spcPts val="0"/>
              </a:spcBef>
              <a:spcAft>
                <a:spcPts val="0"/>
              </a:spcAft>
            </a:pPr>
            <a:r>
              <a:rPr sz="800" b="0" i="0">
                <a:solidFill>
                  <a:srgbClr val="FDFDFD"/>
                </a:solidFill>
                <a:latin typeface="Segoe UI"/>
              </a:rPr>
              <a:t>beta* = 0.10</a:t>
            </a:r>
          </a:p>
        </p:txBody>
      </p:sp>
      <p:sp>
        <p:nvSpPr>
          <p:cNvPr id="31" name="TextBox 30"/>
          <p:cNvSpPr txBox="1"/>
          <p:nvPr/>
        </p:nvSpPr>
        <p:spPr>
          <a:xfrm>
            <a:off x="2962656" y="3557015"/>
            <a:ext cx="1024127" cy="420624"/>
          </a:xfrm>
          <a:prstGeom prst="rect">
            <a:avLst/>
          </a:prstGeom>
          <a:noFill/>
        </p:spPr>
        <p:txBody>
          <a:bodyPr wrap="square" lIns="0" rIns="0" tIns="0" bIns="0" anchor="ctr">
            <a:spAutoFit/>
          </a:bodyPr>
          <a:lstStyle/>
          <a:p>
            <a:pPr algn="ctr">
              <a:lnSpc>
                <a:spcPct val="115000"/>
              </a:lnSpc>
              <a:spcBef>
                <a:spcPts val="0"/>
              </a:spcBef>
              <a:spcAft>
                <a:spcPts val="0"/>
              </a:spcAft>
            </a:pPr>
            <a:r>
              <a:rPr sz="800" b="0" i="0">
                <a:solidFill>
                  <a:srgbClr val="2B373B"/>
                </a:solidFill>
                <a:latin typeface="Segoe UI Semibold"/>
              </a:rPr>
              <a:t>cost margin</a:t>
            </a:r>
          </a:p>
          <a:p>
            <a:pPr algn="ctr">
              <a:lnSpc>
                <a:spcPct val="115000"/>
              </a:lnSpc>
              <a:spcBef>
                <a:spcPts val="0"/>
              </a:spcBef>
              <a:spcAft>
                <a:spcPts val="0"/>
              </a:spcAft>
            </a:pPr>
            <a:r>
              <a:rPr sz="800" b="0" i="0">
                <a:solidFill>
                  <a:srgbClr val="2B373B"/>
                </a:solidFill>
                <a:latin typeface="Segoe UI"/>
              </a:rPr>
              <a:t>0.05</a:t>
            </a:r>
          </a:p>
        </p:txBody>
      </p:sp>
      <p:sp>
        <p:nvSpPr>
          <p:cNvPr id="32" name="TextBox 31"/>
          <p:cNvSpPr txBox="1"/>
          <p:nvPr/>
        </p:nvSpPr>
        <p:spPr>
          <a:xfrm>
            <a:off x="3986783" y="3557015"/>
            <a:ext cx="2048255" cy="420624"/>
          </a:xfrm>
          <a:prstGeom prst="rect">
            <a:avLst/>
          </a:prstGeom>
          <a:noFill/>
        </p:spPr>
        <p:txBody>
          <a:bodyPr wrap="square" lIns="0" rIns="0" tIns="0" bIns="0" anchor="ctr">
            <a:spAutoFit/>
          </a:bodyPr>
          <a:lstStyle/>
          <a:p>
            <a:pPr algn="ctr">
              <a:lnSpc>
                <a:spcPct val="115000"/>
              </a:lnSpc>
              <a:spcBef>
                <a:spcPts val="0"/>
              </a:spcBef>
              <a:spcAft>
                <a:spcPts val="0"/>
              </a:spcAft>
            </a:pPr>
            <a:r>
              <a:rPr sz="800" b="0" i="0">
                <a:solidFill>
                  <a:srgbClr val="101010"/>
                </a:solidFill>
                <a:latin typeface="Segoe UI Semibold"/>
              </a:rPr>
              <a:t>the market must pay</a:t>
            </a:r>
          </a:p>
          <a:p>
            <a:pPr algn="ctr">
              <a:lnSpc>
                <a:spcPct val="115000"/>
              </a:lnSpc>
              <a:spcBef>
                <a:spcPts val="0"/>
              </a:spcBef>
              <a:spcAft>
                <a:spcPts val="0"/>
              </a:spcAft>
            </a:pPr>
            <a:r>
              <a:rPr sz="800" b="0" i="0">
                <a:solidFill>
                  <a:srgbClr val="101010"/>
                </a:solidFill>
                <a:latin typeface="Segoe UI"/>
              </a:rPr>
              <a:t>into here</a:t>
            </a:r>
          </a:p>
        </p:txBody>
      </p:sp>
      <p:sp>
        <p:nvSpPr>
          <p:cNvPr id="33" name="TextBox 32"/>
          <p:cNvSpPr txBox="1"/>
          <p:nvPr/>
        </p:nvSpPr>
        <p:spPr>
          <a:xfrm>
            <a:off x="914400" y="4133088"/>
            <a:ext cx="5120640" cy="457200"/>
          </a:xfrm>
          <a:prstGeom prst="rect">
            <a:avLst/>
          </a:prstGeom>
          <a:noFill/>
        </p:spPr>
        <p:txBody>
          <a:bodyPr wrap="square" lIns="0" rIns="0" tIns="0" bIns="0" anchor="t">
            <a:spAutoFit/>
          </a:bodyPr>
          <a:lstStyle/>
          <a:p>
            <a:pPr algn="l">
              <a:lnSpc>
                <a:spcPct val="125000"/>
              </a:lnSpc>
              <a:spcBef>
                <a:spcPts val="0"/>
              </a:spcBef>
              <a:spcAft>
                <a:spcPts val="0"/>
              </a:spcAft>
            </a:pPr>
            <a:r>
              <a:rPr sz="800" b="0" i="0">
                <a:solidFill>
                  <a:srgbClr val="626262"/>
                </a:solidFill>
                <a:latin typeface="Segoe UI"/>
              </a:rPr>
              <a:t>The horizontal axis is the credit as a fraction of the wing. The market's price of the interval, credit / wing, is read from the quote at the expected fill; the mid is logged alongside.</a:t>
            </a:r>
          </a:p>
        </p:txBody>
      </p:sp>
      <p:sp>
        <p:nvSpPr>
          <p:cNvPr id="34" name="TextBox 33"/>
          <p:cNvSpPr txBox="1"/>
          <p:nvPr/>
        </p:nvSpPr>
        <p:spPr>
          <a:xfrm>
            <a:off x="6446520" y="1920240"/>
            <a:ext cx="4922215"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Why credit / wing is the right comparison</a:t>
            </a:r>
          </a:p>
        </p:txBody>
      </p:sp>
      <p:sp>
        <p:nvSpPr>
          <p:cNvPr id="35" name="TextBox 34"/>
          <p:cNvSpPr txBox="1"/>
          <p:nvPr/>
        </p:nvSpPr>
        <p:spPr>
          <a:xfrm>
            <a:off x="6446520" y="2194560"/>
            <a:ext cx="4922215" cy="91440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626262"/>
                </a:solidFill>
                <a:latin typeface="Segoe UI"/>
              </a:rPr>
              <a:t>For a vertical spread the credit divided by the width is the risk-neutral survival probability averaged across the wing band. It is the market's price of exactly the event the certificate bounds. [7][R1, Lemma 2]</a:t>
            </a:r>
          </a:p>
        </p:txBody>
      </p:sp>
      <p:sp>
        <p:nvSpPr>
          <p:cNvPr id="36" name="TextBox 35"/>
          <p:cNvSpPr txBox="1"/>
          <p:nvPr/>
        </p:nvSpPr>
        <p:spPr>
          <a:xfrm>
            <a:off x="6446520" y="3127248"/>
            <a:ext cx="4922215"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What the condition buys</a:t>
            </a:r>
          </a:p>
        </p:txBody>
      </p:sp>
      <p:sp>
        <p:nvSpPr>
          <p:cNvPr id="37" name="TextBox 36"/>
          <p:cNvSpPr txBox="1"/>
          <p:nvPr/>
        </p:nvSpPr>
        <p:spPr>
          <a:xfrm>
            <a:off x="6446520" y="3401568"/>
            <a:ext cx="4922215" cy="91440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626262"/>
                </a:solidFill>
                <a:latin typeface="Segoe UI"/>
              </a:rPr>
              <a:t>One line, no free parameter. Every trade that passes is certified, in expectation and under the stated assumptions, not to lose after the modelled round-trip cost of four legs. A trade on the boundary expects its cost and no more.</a:t>
            </a:r>
          </a:p>
        </p:txBody>
      </p:sp>
      <p:sp>
        <p:nvSpPr>
          <p:cNvPr id="38" name="TextBox 37"/>
          <p:cNvSpPr txBox="1"/>
          <p:nvPr/>
        </p:nvSpPr>
        <p:spPr>
          <a:xfrm>
            <a:off x="6446520" y="4334256"/>
            <a:ext cx="4922215"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What it does not buy</a:t>
            </a:r>
          </a:p>
        </p:txBody>
      </p:sp>
      <p:sp>
        <p:nvSpPr>
          <p:cNvPr id="39" name="TextBox 38"/>
          <p:cNvSpPr txBox="1"/>
          <p:nvPr/>
        </p:nvSpPr>
        <p:spPr>
          <a:xfrm>
            <a:off x="6446520" y="4608576"/>
            <a:ext cx="4922215" cy="91440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626262"/>
                </a:solidFill>
                <a:latin typeface="Segoe UI"/>
              </a:rPr>
              <a:t>The 0.05 is a cost margin, not a profit target, and the certificate is marginal while the condition itself selects sessions. If the market never pays, the agent never trades and the ledger records a closed gate.</a:t>
            </a:r>
          </a:p>
        </p:txBody>
      </p:sp>
      <p:sp>
        <p:nvSpPr>
          <p:cNvPr id="40" name="Rectangle 39"/>
          <p:cNvSpPr/>
          <p:nvPr/>
        </p:nvSpPr>
        <p:spPr>
          <a:xfrm>
            <a:off x="822960" y="4498848"/>
            <a:ext cx="5394960"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4608576"/>
            <a:ext cx="5394960" cy="384048"/>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101010"/>
                </a:solidFill>
                <a:latin typeface="Segoe UI Semibold"/>
              </a:rPr>
              <a:t>Back-fill, 618 sessions.</a:t>
            </a:r>
            <a:r>
              <a:rPr sz="900" b="0" i="0">
                <a:solidFill>
                  <a:srgbClr val="2B373B"/>
                </a:solidFill>
                <a:latin typeface="Segoe UI"/>
              </a:rPr>
              <a:t> History carries no option prices, so only the certified side can be replayed. [R2]</a:t>
            </a:r>
          </a:p>
        </p:txBody>
      </p:sp>
      <p:sp>
        <p:nvSpPr>
          <p:cNvPr id="42" name="TextBox 41"/>
          <p:cNvSpPr txBox="1"/>
          <p:nvPr/>
        </p:nvSpPr>
        <p:spPr>
          <a:xfrm>
            <a:off x="822960" y="5010912"/>
            <a:ext cx="1850745" cy="201168"/>
          </a:xfrm>
          <a:prstGeom prst="rect">
            <a:avLst/>
          </a:prstGeom>
          <a:noFill/>
        </p:spPr>
        <p:txBody>
          <a:bodyPr wrap="square" lIns="0" rIns="0" tIns="0" bIns="0" anchor="b">
            <a:spAutoFit/>
          </a:bodyPr>
          <a:lstStyle/>
          <a:p>
            <a:pPr algn="l">
              <a:lnSpc>
                <a:spcPct val="116000"/>
              </a:lnSpc>
              <a:spcBef>
                <a:spcPts val="0"/>
              </a:spcBef>
              <a:spcAft>
                <a:spcPts val="0"/>
              </a:spcAft>
            </a:pPr>
            <a:r>
              <a:rPr sz="800" b="0" i="0">
                <a:solidFill>
                  <a:srgbClr val="626262"/>
                </a:solidFill>
                <a:latin typeface="Segoe UI Semibold"/>
              </a:rPr>
              <a:t>realised payout ratio vs 0.10</a:t>
            </a:r>
          </a:p>
        </p:txBody>
      </p:sp>
      <p:sp>
        <p:nvSpPr>
          <p:cNvPr id="43" name="TextBox 42"/>
          <p:cNvSpPr txBox="1"/>
          <p:nvPr/>
        </p:nvSpPr>
        <p:spPr>
          <a:xfrm>
            <a:off x="2765145" y="5010912"/>
            <a:ext cx="771753" cy="20116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all</a:t>
            </a:r>
          </a:p>
        </p:txBody>
      </p:sp>
      <p:sp>
        <p:nvSpPr>
          <p:cNvPr id="44" name="TextBox 43"/>
          <p:cNvSpPr txBox="1"/>
          <p:nvPr/>
        </p:nvSpPr>
        <p:spPr>
          <a:xfrm>
            <a:off x="3628339" y="5010912"/>
            <a:ext cx="771753" cy="20116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2024</a:t>
            </a:r>
          </a:p>
        </p:txBody>
      </p:sp>
      <p:sp>
        <p:nvSpPr>
          <p:cNvPr id="45" name="TextBox 44"/>
          <p:cNvSpPr txBox="1"/>
          <p:nvPr/>
        </p:nvSpPr>
        <p:spPr>
          <a:xfrm>
            <a:off x="4491532" y="5010912"/>
            <a:ext cx="771753" cy="20116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2025</a:t>
            </a:r>
          </a:p>
        </p:txBody>
      </p:sp>
      <p:sp>
        <p:nvSpPr>
          <p:cNvPr id="46" name="TextBox 45"/>
          <p:cNvSpPr txBox="1"/>
          <p:nvPr/>
        </p:nvSpPr>
        <p:spPr>
          <a:xfrm>
            <a:off x="5354726" y="5010912"/>
            <a:ext cx="771753" cy="20116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2026</a:t>
            </a:r>
          </a:p>
        </p:txBody>
      </p:sp>
      <p:sp>
        <p:nvSpPr>
          <p:cNvPr id="47" name="Rectangle 46"/>
          <p:cNvSpPr/>
          <p:nvPr/>
        </p:nvSpPr>
        <p:spPr>
          <a:xfrm>
            <a:off x="822960" y="5239512"/>
            <a:ext cx="5394960"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21808"/>
            <a:ext cx="1850745" cy="20116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conformal radius</a:t>
            </a:r>
          </a:p>
        </p:txBody>
      </p:sp>
      <p:sp>
        <p:nvSpPr>
          <p:cNvPr id="49" name="TextBox 48"/>
          <p:cNvSpPr txBox="1"/>
          <p:nvPr/>
        </p:nvSpPr>
        <p:spPr>
          <a:xfrm>
            <a:off x="2765145" y="5321808"/>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101010"/>
                </a:solidFill>
                <a:latin typeface="Segoe UI Semibold"/>
              </a:rPr>
              <a:t>0.079</a:t>
            </a:r>
          </a:p>
        </p:txBody>
      </p:sp>
      <p:sp>
        <p:nvSpPr>
          <p:cNvPr id="50" name="TextBox 49"/>
          <p:cNvSpPr txBox="1"/>
          <p:nvPr/>
        </p:nvSpPr>
        <p:spPr>
          <a:xfrm>
            <a:off x="3628339" y="5321808"/>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0.070</a:t>
            </a:r>
          </a:p>
        </p:txBody>
      </p:sp>
      <p:sp>
        <p:nvSpPr>
          <p:cNvPr id="51" name="TextBox 50"/>
          <p:cNvSpPr txBox="1"/>
          <p:nvPr/>
        </p:nvSpPr>
        <p:spPr>
          <a:xfrm>
            <a:off x="4491532" y="5321808"/>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0.079</a:t>
            </a:r>
          </a:p>
        </p:txBody>
      </p:sp>
      <p:sp>
        <p:nvSpPr>
          <p:cNvPr id="52" name="TextBox 51"/>
          <p:cNvSpPr txBox="1"/>
          <p:nvPr/>
        </p:nvSpPr>
        <p:spPr>
          <a:xfrm>
            <a:off x="5354726" y="5321808"/>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0.090</a:t>
            </a:r>
          </a:p>
        </p:txBody>
      </p:sp>
      <p:sp>
        <p:nvSpPr>
          <p:cNvPr id="53" name="Rectangle 52"/>
          <p:cNvSpPr/>
          <p:nvPr/>
        </p:nvSpPr>
        <p:spPr>
          <a:xfrm>
            <a:off x="822960" y="5504688"/>
            <a:ext cx="5394960"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 y="5522976"/>
            <a:ext cx="1850745" cy="20116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fixed 1.10x rule</a:t>
            </a:r>
          </a:p>
        </p:txBody>
      </p:sp>
      <p:sp>
        <p:nvSpPr>
          <p:cNvPr id="55" name="TextBox 54"/>
          <p:cNvSpPr txBox="1"/>
          <p:nvPr/>
        </p:nvSpPr>
        <p:spPr>
          <a:xfrm>
            <a:off x="2765145" y="5522976"/>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0.104</a:t>
            </a:r>
          </a:p>
        </p:txBody>
      </p:sp>
      <p:sp>
        <p:nvSpPr>
          <p:cNvPr id="56" name="TextBox 55"/>
          <p:cNvSpPr txBox="1"/>
          <p:nvPr/>
        </p:nvSpPr>
        <p:spPr>
          <a:xfrm>
            <a:off x="3628339" y="5522976"/>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0.119</a:t>
            </a:r>
          </a:p>
        </p:txBody>
      </p:sp>
      <p:sp>
        <p:nvSpPr>
          <p:cNvPr id="57" name="TextBox 56"/>
          <p:cNvSpPr txBox="1"/>
          <p:nvPr/>
        </p:nvSpPr>
        <p:spPr>
          <a:xfrm>
            <a:off x="4491532" y="5522976"/>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0.113</a:t>
            </a:r>
          </a:p>
        </p:txBody>
      </p:sp>
      <p:sp>
        <p:nvSpPr>
          <p:cNvPr id="58" name="TextBox 57"/>
          <p:cNvSpPr txBox="1"/>
          <p:nvPr/>
        </p:nvSpPr>
        <p:spPr>
          <a:xfrm>
            <a:off x="5354726" y="5522976"/>
            <a:ext cx="771753" cy="20116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Categories from the model, numbers from code</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The language model returns enumerations and may only reduce risk. Deterministic code sets every number, and a test proves the order is byte-identical across different model outputs.</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[8] Glasserman &amp; Lin 2023. [9] Kim 2026. [10] Koviazin, Mudarisov, Polyachenko &amp; State, IC-AIF 2026. [11] Thinking Machines Lab 2025. In the repository: README.md 'Architecture', docs/WRITEUP.md 'AI logic', [R7] docs/report_2026-09-02.md (LLM section).</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5</a:t>
            </a:r>
          </a:p>
        </p:txBody>
      </p:sp>
      <p:sp>
        <p:nvSpPr>
          <p:cNvPr id="9" name="Rectangle 8"/>
          <p:cNvSpPr/>
          <p:nvPr/>
        </p:nvSpPr>
        <p:spPr>
          <a:xfrm>
            <a:off x="676656" y="1883664"/>
            <a:ext cx="22860" cy="3246120"/>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1883664"/>
            <a:ext cx="10545775" cy="365760"/>
          </a:xfrm>
          <a:prstGeom prst="roundRect">
            <a:avLst>
              <a:gd name="adj" fmla="val 6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88366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Inputs</a:t>
            </a:r>
          </a:p>
        </p:txBody>
      </p:sp>
      <p:sp>
        <p:nvSpPr>
          <p:cNvPr id="12" name="Rounded Rectangle 11"/>
          <p:cNvSpPr/>
          <p:nvPr/>
        </p:nvSpPr>
        <p:spPr>
          <a:xfrm>
            <a:off x="2304288" y="1975104"/>
            <a:ext cx="603504" cy="182880"/>
          </a:xfrm>
          <a:prstGeom prst="roundRect">
            <a:avLst>
              <a:gd name="adj" fmla="val 6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626262"/>
                </a:solidFill>
                <a:latin typeface="Segoe UI Semibold"/>
              </a:rPr>
              <a:t>DATA</a:t>
            </a:r>
          </a:p>
        </p:txBody>
      </p:sp>
      <p:sp>
        <p:nvSpPr>
          <p:cNvPr id="13" name="TextBox 12"/>
          <p:cNvSpPr txBox="1"/>
          <p:nvPr/>
        </p:nvSpPr>
        <p:spPr>
          <a:xfrm>
            <a:off x="3054096" y="188366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Alpaca option chain snapshots, IEX bars and news; Cboe VIX, VIX3M and VIX1D.</a:t>
            </a:r>
          </a:p>
        </p:txBody>
      </p:sp>
      <p:sp>
        <p:nvSpPr>
          <p:cNvPr id="14" name="Rounded Rectangle 13"/>
          <p:cNvSpPr/>
          <p:nvPr/>
        </p:nvSpPr>
        <p:spPr>
          <a:xfrm>
            <a:off x="822960" y="2295144"/>
            <a:ext cx="10545775" cy="365760"/>
          </a:xfrm>
          <a:prstGeom prst="roundRect">
            <a:avLst>
              <a:gd name="adj" fmla="val 6000"/>
            </a:avLst>
          </a:prstGeom>
          <a:solidFill>
            <a:srgbClr val="FEE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29514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Regime</a:t>
            </a:r>
          </a:p>
        </p:txBody>
      </p:sp>
      <p:sp>
        <p:nvSpPr>
          <p:cNvPr id="16" name="Rounded Rectangle 15"/>
          <p:cNvSpPr/>
          <p:nvPr/>
        </p:nvSpPr>
        <p:spPr>
          <a:xfrm>
            <a:off x="2304288" y="2386584"/>
            <a:ext cx="603504" cy="182880"/>
          </a:xfrm>
          <a:prstGeom prst="roundRect">
            <a:avLst>
              <a:gd name="adj" fmla="val 6000"/>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FCD72B"/>
                </a:solidFill>
                <a:latin typeface="Segoe UI Semibold"/>
              </a:rPr>
              <a:t>LLM</a:t>
            </a:r>
          </a:p>
        </p:txBody>
      </p:sp>
      <p:sp>
        <p:nvSpPr>
          <p:cNvPr id="17" name="TextBox 16"/>
          <p:cNvSpPr txBox="1"/>
          <p:nvPr/>
        </p:nvSpPr>
        <p:spPr>
          <a:xfrm>
            <a:off x="3054096" y="229514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Enums only: VOL_REGIME, TREND, EVENT_RISK, strategy family, veto. Tickers and dates masked [8]. Three calls must agree, which raises the NO_TRADE rate rather than accuracy [9].</a:t>
            </a:r>
          </a:p>
        </p:txBody>
      </p:sp>
      <p:sp>
        <p:nvSpPr>
          <p:cNvPr id="18" name="Rounded Rectangle 17"/>
          <p:cNvSpPr/>
          <p:nvPr/>
        </p:nvSpPr>
        <p:spPr>
          <a:xfrm>
            <a:off x="822960" y="2706624"/>
            <a:ext cx="10545775" cy="365760"/>
          </a:xfrm>
          <a:prstGeom prst="roundRect">
            <a:avLst>
              <a:gd name="adj" fmla="val 6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270662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Strategy</a:t>
            </a:r>
          </a:p>
        </p:txBody>
      </p:sp>
      <p:sp>
        <p:nvSpPr>
          <p:cNvPr id="20" name="Rounded Rectangle 19"/>
          <p:cNvSpPr/>
          <p:nvPr/>
        </p:nvSpPr>
        <p:spPr>
          <a:xfrm>
            <a:off x="2304288" y="2798064"/>
            <a:ext cx="603504" cy="182880"/>
          </a:xfrm>
          <a:prstGeom prst="roundRect">
            <a:avLst>
              <a:gd name="adj" fmla="val 6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626262"/>
                </a:solidFill>
                <a:latin typeface="Segoe UI Semibold"/>
              </a:rPr>
              <a:t>CODE</a:t>
            </a:r>
          </a:p>
        </p:txBody>
      </p:sp>
      <p:sp>
        <p:nvSpPr>
          <p:cNvPr id="21" name="TextBox 20"/>
          <p:cNvSpPr txBox="1"/>
          <p:nvPr/>
        </p:nvSpPr>
        <p:spPr>
          <a:xfrm>
            <a:off x="3054096" y="270662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Certified radius to short strikes and wings; credit / wing read from the quote.</a:t>
            </a:r>
          </a:p>
        </p:txBody>
      </p:sp>
      <p:sp>
        <p:nvSpPr>
          <p:cNvPr id="22" name="Rounded Rectangle 21"/>
          <p:cNvSpPr/>
          <p:nvPr/>
        </p:nvSpPr>
        <p:spPr>
          <a:xfrm>
            <a:off x="822960" y="3118104"/>
            <a:ext cx="10545775" cy="365760"/>
          </a:xfrm>
          <a:prstGeom prst="roundRect">
            <a:avLst>
              <a:gd name="adj" fmla="val 6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311810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Sizing</a:t>
            </a:r>
          </a:p>
        </p:txBody>
      </p:sp>
      <p:sp>
        <p:nvSpPr>
          <p:cNvPr id="24" name="Rounded Rectangle 23"/>
          <p:cNvSpPr/>
          <p:nvPr/>
        </p:nvSpPr>
        <p:spPr>
          <a:xfrm>
            <a:off x="2304288" y="3209544"/>
            <a:ext cx="603504" cy="182880"/>
          </a:xfrm>
          <a:prstGeom prst="roundRect">
            <a:avLst>
              <a:gd name="adj" fmla="val 6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626262"/>
                </a:solidFill>
                <a:latin typeface="Segoe UI Semibold"/>
              </a:rPr>
              <a:t>CODE</a:t>
            </a:r>
          </a:p>
        </p:txBody>
      </p:sp>
      <p:sp>
        <p:nvSpPr>
          <p:cNvPr id="25" name="TextBox 24"/>
          <p:cNvSpPr txBox="1"/>
          <p:nvPr/>
        </p:nvSpPr>
        <p:spPr>
          <a:xfrm>
            <a:off x="3054096" y="311810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2 % of capital per session, 6 % across the campaign; a logistic regime model trained on 9,230 sessions may only shrink the size, never raise it.</a:t>
            </a:r>
          </a:p>
        </p:txBody>
      </p:sp>
      <p:sp>
        <p:nvSpPr>
          <p:cNvPr id="26" name="Rounded Rectangle 25"/>
          <p:cNvSpPr/>
          <p:nvPr/>
        </p:nvSpPr>
        <p:spPr>
          <a:xfrm>
            <a:off x="822960" y="3529584"/>
            <a:ext cx="10545775" cy="365760"/>
          </a:xfrm>
          <a:prstGeom prst="roundRect">
            <a:avLst>
              <a:gd name="adj" fmla="val 6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352958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Gates</a:t>
            </a:r>
          </a:p>
        </p:txBody>
      </p:sp>
      <p:sp>
        <p:nvSpPr>
          <p:cNvPr id="28" name="Rounded Rectangle 27"/>
          <p:cNvSpPr/>
          <p:nvPr/>
        </p:nvSpPr>
        <p:spPr>
          <a:xfrm>
            <a:off x="2304288" y="3621024"/>
            <a:ext cx="603504" cy="182880"/>
          </a:xfrm>
          <a:prstGeom prst="roundRect">
            <a:avLst>
              <a:gd name="adj" fmla="val 6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626262"/>
                </a:solidFill>
                <a:latin typeface="Segoe UI Semibold"/>
              </a:rPr>
              <a:t>CODE</a:t>
            </a:r>
          </a:p>
        </p:txBody>
      </p:sp>
      <p:sp>
        <p:nvSpPr>
          <p:cNvPr id="29" name="TextBox 28"/>
          <p:cNvSpPr txBox="1"/>
          <p:nvPr/>
        </p:nvSpPr>
        <p:spPr>
          <a:xfrm>
            <a:off x="3054096" y="352958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31 checks, evaluated on every candidate order and logged pass by pass; gate 31 is the trade condition.</a:t>
            </a:r>
          </a:p>
        </p:txBody>
      </p:sp>
      <p:sp>
        <p:nvSpPr>
          <p:cNvPr id="30" name="Rounded Rectangle 29"/>
          <p:cNvSpPr/>
          <p:nvPr/>
        </p:nvSpPr>
        <p:spPr>
          <a:xfrm>
            <a:off x="822960" y="3941064"/>
            <a:ext cx="10545775" cy="365760"/>
          </a:xfrm>
          <a:prstGeom prst="roundRect">
            <a:avLst>
              <a:gd name="adj" fmla="val 6000"/>
            </a:avLst>
          </a:prstGeom>
          <a:solidFill>
            <a:srgbClr val="FEE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394106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Critic</a:t>
            </a:r>
          </a:p>
        </p:txBody>
      </p:sp>
      <p:sp>
        <p:nvSpPr>
          <p:cNvPr id="32" name="Rounded Rectangle 31"/>
          <p:cNvSpPr/>
          <p:nvPr/>
        </p:nvSpPr>
        <p:spPr>
          <a:xfrm>
            <a:off x="2304288" y="4032504"/>
            <a:ext cx="603504" cy="182880"/>
          </a:xfrm>
          <a:prstGeom prst="roundRect">
            <a:avLst>
              <a:gd name="adj" fmla="val 6000"/>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FCD72B"/>
                </a:solidFill>
                <a:latin typeface="Segoe UI Semibold"/>
              </a:rPr>
              <a:t>LLM</a:t>
            </a:r>
          </a:p>
        </p:txBody>
      </p:sp>
      <p:sp>
        <p:nvSpPr>
          <p:cNvPr id="33" name="TextBox 32"/>
          <p:cNvSpPr txBox="1"/>
          <p:nvPr/>
        </p:nvSpPr>
        <p:spPr>
          <a:xfrm>
            <a:off x="3054096" y="394106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Sees the finished, gate-validated order and may say PASS, REDUCE or BLOCK. It can never enlarge.</a:t>
            </a:r>
          </a:p>
        </p:txBody>
      </p:sp>
      <p:sp>
        <p:nvSpPr>
          <p:cNvPr id="34" name="Rounded Rectangle 33"/>
          <p:cNvSpPr/>
          <p:nvPr/>
        </p:nvSpPr>
        <p:spPr>
          <a:xfrm>
            <a:off x="822960" y="4352544"/>
            <a:ext cx="10545775" cy="365760"/>
          </a:xfrm>
          <a:prstGeom prst="roundRect">
            <a:avLst>
              <a:gd name="adj" fmla="val 6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 y="435254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Execution</a:t>
            </a:r>
          </a:p>
        </p:txBody>
      </p:sp>
      <p:sp>
        <p:nvSpPr>
          <p:cNvPr id="36" name="Rounded Rectangle 35"/>
          <p:cNvSpPr/>
          <p:nvPr/>
        </p:nvSpPr>
        <p:spPr>
          <a:xfrm>
            <a:off x="2304288" y="4443984"/>
            <a:ext cx="603504" cy="182880"/>
          </a:xfrm>
          <a:prstGeom prst="roundRect">
            <a:avLst>
              <a:gd name="adj" fmla="val 6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626262"/>
                </a:solidFill>
                <a:latin typeface="Segoe UI Semibold"/>
              </a:rPr>
              <a:t>CODE</a:t>
            </a:r>
          </a:p>
        </p:txBody>
      </p:sp>
      <p:sp>
        <p:nvSpPr>
          <p:cNvPr id="37" name="TextBox 36"/>
          <p:cNvSpPr txBox="1"/>
          <p:nvPr/>
        </p:nvSpPr>
        <p:spPr>
          <a:xfrm>
            <a:off x="3054096" y="435254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Multi-leg limit ladder priced in ticks and re-quoted at every rung; flat by 15:15 ET.</a:t>
            </a:r>
          </a:p>
        </p:txBody>
      </p:sp>
      <p:sp>
        <p:nvSpPr>
          <p:cNvPr id="38" name="Rounded Rectangle 37"/>
          <p:cNvSpPr/>
          <p:nvPr/>
        </p:nvSpPr>
        <p:spPr>
          <a:xfrm>
            <a:off x="822960" y="4764024"/>
            <a:ext cx="10545775" cy="365760"/>
          </a:xfrm>
          <a:prstGeom prst="roundRect">
            <a:avLst>
              <a:gd name="adj" fmla="val 6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 y="4764024"/>
            <a:ext cx="1325880" cy="365760"/>
          </a:xfrm>
          <a:prstGeom prst="rect">
            <a:avLst/>
          </a:prstGeom>
          <a:noFill/>
        </p:spPr>
        <p:txBody>
          <a:bodyPr wrap="square" lIns="0" rIns="0" tIns="0" bIns="0" anchor="ctr">
            <a:spAutoFit/>
          </a:bodyPr>
          <a:lstStyle/>
          <a:p>
            <a:pPr algn="l">
              <a:lnSpc>
                <a:spcPct val="116000"/>
              </a:lnSpc>
              <a:spcBef>
                <a:spcPts val="0"/>
              </a:spcBef>
              <a:spcAft>
                <a:spcPts val="0"/>
              </a:spcAft>
            </a:pPr>
            <a:r>
              <a:rPr sz="1050" b="0" i="0">
                <a:solidFill>
                  <a:srgbClr val="101010"/>
                </a:solidFill>
                <a:latin typeface="Segoe UI Semibold"/>
              </a:rPr>
              <a:t>Record</a:t>
            </a:r>
          </a:p>
        </p:txBody>
      </p:sp>
      <p:sp>
        <p:nvSpPr>
          <p:cNvPr id="40" name="Rounded Rectangle 39"/>
          <p:cNvSpPr/>
          <p:nvPr/>
        </p:nvSpPr>
        <p:spPr>
          <a:xfrm>
            <a:off x="2304288" y="4855464"/>
            <a:ext cx="603504" cy="182880"/>
          </a:xfrm>
          <a:prstGeom prst="roundRect">
            <a:avLst>
              <a:gd name="adj" fmla="val 6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626262"/>
                </a:solidFill>
                <a:latin typeface="Segoe UI Semibold"/>
              </a:rPr>
              <a:t>CODE</a:t>
            </a:r>
          </a:p>
        </p:txBody>
      </p:sp>
      <p:sp>
        <p:nvSpPr>
          <p:cNvPr id="41" name="TextBox 40"/>
          <p:cNvSpPr txBox="1"/>
          <p:nvPr/>
        </p:nvSpPr>
        <p:spPr>
          <a:xfrm>
            <a:off x="3054096" y="4764024"/>
            <a:ext cx="8168335"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B373B"/>
                </a:solidFill>
                <a:latin typeface="Segoe UI"/>
              </a:rPr>
              <a:t>Append-only audit log with git and configuration hashes, from which the report, the public ledger and the determinism and leakage audits are computed.</a:t>
            </a:r>
          </a:p>
        </p:txBody>
      </p:sp>
      <p:sp>
        <p:nvSpPr>
          <p:cNvPr id="42" name="TextBox 41"/>
          <p:cNvSpPr txBox="1"/>
          <p:nvPr/>
        </p:nvSpPr>
        <p:spPr>
          <a:xfrm>
            <a:off x="822960" y="5303520"/>
            <a:ext cx="10545775" cy="548640"/>
          </a:xfrm>
          <a:prstGeom prst="rect">
            <a:avLst/>
          </a:prstGeom>
          <a:noFill/>
        </p:spPr>
        <p:txBody>
          <a:bodyPr wrap="square" lIns="0" rIns="0" tIns="0" bIns="0" anchor="t">
            <a:spAutoFit/>
          </a:bodyPr>
          <a:lstStyle/>
          <a:p>
            <a:pPr algn="l">
              <a:lnSpc>
                <a:spcPct val="125000"/>
              </a:lnSpc>
              <a:spcBef>
                <a:spcPts val="0"/>
              </a:spcBef>
              <a:spcAft>
                <a:spcPts val="0"/>
              </a:spcAft>
            </a:pPr>
            <a:r>
              <a:rPr sz="900" b="0" i="0">
                <a:solidFill>
                  <a:srgbClr val="626262"/>
                </a:solidFill>
                <a:latin typeface="Segoe UI"/>
              </a:rPr>
              <a:t>Sampling is pinned on temperature, top_p, top_k and seed, and per-field decision entropy is logged in bits [10]. Determinism is an assurance property, not a correctness one: 1,000 temperature-zero completions of one prompt have been measured to give 80 distinct outputs [11]. Open-weight models through Featherless.ai — DeepSeek-V3.2 for regime and critic, Qwen3-30B-A3B for the journal.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Risk gates and execution</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Every candidate order passes 31 gates before it is sent, and orders are priced in ticks and re-quoted at every rung.</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[12] SEC Rule 15c3-5; MiFID II RTS 6; FINRA Notice 15-09; SEC order in re Knight Capital, 2013. [13] Fu, Li &amp; Musto, SEC DERA. In the repository: [R4] config/risk_limits.yaml and agent/gates/engine.py; [R5] docs/CONFIG_CHANGES.md; [R7] docs/report_2026-09-02.md.</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6</a:t>
            </a:r>
          </a:p>
        </p:txBody>
      </p:sp>
      <p:sp>
        <p:nvSpPr>
          <p:cNvPr id="9" name="TextBox 8"/>
          <p:cNvSpPr txBox="1"/>
          <p:nvPr/>
        </p:nvSpPr>
        <p:spPr>
          <a:xfrm>
            <a:off x="822960" y="1883664"/>
            <a:ext cx="5029200"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Thirty-one gates  [R4][12]</a:t>
            </a:r>
          </a:p>
        </p:txBody>
      </p:sp>
      <p:sp>
        <p:nvSpPr>
          <p:cNvPr id="10" name="Rectangle 9"/>
          <p:cNvSpPr/>
          <p:nvPr/>
        </p:nvSpPr>
        <p:spPr>
          <a:xfrm>
            <a:off x="822960" y="2176272"/>
            <a:ext cx="5029200"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41248" y="2354580"/>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304288"/>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30 controls derived from SEC Rule 15c3-5, MiFID II RTS 6, FINRA Notice 15-09 and the SEC's Knight Capital order, plus gate 31, the trade condition.</a:t>
            </a:r>
          </a:p>
        </p:txBody>
      </p:sp>
      <p:sp>
        <p:nvSpPr>
          <p:cNvPr id="13" name="Oval 12"/>
          <p:cNvSpPr/>
          <p:nvPr/>
        </p:nvSpPr>
        <p:spPr>
          <a:xfrm>
            <a:off x="841248" y="2872130"/>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821838"/>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Session loss capped at 2 % of capital with a continuous taper toward a 6 % campaign cap; $1,000 of maximum loss and 5 contracts per order; defined risk only, so every short leg has a bought wing in the same package.</a:t>
            </a:r>
          </a:p>
        </p:txBody>
      </p:sp>
      <p:sp>
        <p:nvSpPr>
          <p:cNvPr id="15" name="Oval 14"/>
          <p:cNvSpPr/>
          <p:nvPr/>
        </p:nvSpPr>
        <p:spPr>
          <a:xfrm>
            <a:off x="841248" y="3538728"/>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488436"/>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Entry windows by weekday; Friday is a logged NO_TRADE day because of the payrolls release at 08:30 ET; no entry after 14:00; flat by 15:15 ET on liquidity grounds.</a:t>
            </a:r>
          </a:p>
        </p:txBody>
      </p:sp>
      <p:sp>
        <p:nvSpPr>
          <p:cNvPr id="17" name="Oval 16"/>
          <p:cNvSpPr/>
          <p:nvPr/>
        </p:nvSpPr>
        <p:spPr>
          <a:xfrm>
            <a:off x="841248" y="4056278"/>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005986"/>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Kill switch checked every cycle with cancel-all under five seconds, a daily loss kill on an independent code path, and order and position reconciliation every cycle. A mismatch halts new risk, and did so on the pilot day. [R7]</a:t>
            </a:r>
          </a:p>
        </p:txBody>
      </p:sp>
      <p:sp>
        <p:nvSpPr>
          <p:cNvPr id="19" name="TextBox 18"/>
          <p:cNvSpPr txBox="1"/>
          <p:nvPr/>
        </p:nvSpPr>
        <p:spPr>
          <a:xfrm>
            <a:off x="6336792" y="1883664"/>
            <a:ext cx="5029200"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Execution  [13][R5]</a:t>
            </a:r>
          </a:p>
        </p:txBody>
      </p:sp>
      <p:sp>
        <p:nvSpPr>
          <p:cNvPr id="20" name="Rectangle 19"/>
          <p:cNvSpPr/>
          <p:nvPr/>
        </p:nvSpPr>
        <p:spPr>
          <a:xfrm>
            <a:off x="6336792" y="2176272"/>
            <a:ext cx="5029200"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55080" y="2354580"/>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2304288"/>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Same-day quoted spreads are one or two ticks wide, so collars and ladders are expressed in ticks and never as a percentage of the mid. No market orders, ever.</a:t>
            </a:r>
          </a:p>
        </p:txBody>
      </p:sp>
      <p:sp>
        <p:nvSpPr>
          <p:cNvPr id="23" name="Oval 22"/>
          <p:cNvSpPr/>
          <p:nvPr/>
        </p:nvSpPr>
        <p:spPr>
          <a:xfrm>
            <a:off x="6355080" y="2872130"/>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9672" y="2821838"/>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Alpaca paper fills only marketable limit orders. On the pilot day three rungs fixed at 0.49, 0.48 and 0.47 expired unfilled while the package's natural price fell from 0.47 to 0.39 in sixty seconds.</a:t>
            </a:r>
          </a:p>
        </p:txBody>
      </p:sp>
      <p:sp>
        <p:nvSpPr>
          <p:cNvPr id="25" name="Oval 24"/>
          <p:cNvSpPr/>
          <p:nvPr/>
        </p:nvSpPr>
        <p:spPr>
          <a:xfrm>
            <a:off x="6355080" y="3538728"/>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9672" y="3488436"/>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Since then every rung is priced from quotes pulled at send time and reaches the live natural within sixty seconds, and no rung may go below the credit floor the gates approved.</a:t>
            </a:r>
          </a:p>
        </p:txBody>
      </p:sp>
      <p:sp>
        <p:nvSpPr>
          <p:cNvPr id="27" name="Oval 26"/>
          <p:cNvSpPr/>
          <p:nvPr/>
        </p:nvSpPr>
        <p:spPr>
          <a:xfrm>
            <a:off x="6355080" y="4056278"/>
            <a:ext cx="50292" cy="50292"/>
          </a:xfrm>
          <a:prstGeom prst="ellipse">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9672" y="4005986"/>
            <a:ext cx="4846320" cy="82296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Every parameter changed after the first live cycle is listed with its date, its evidence and its effect. [R5]</a:t>
            </a:r>
          </a:p>
        </p:txBody>
      </p:sp>
      <p:sp>
        <p:nvSpPr>
          <p:cNvPr id="29" name="Rounded Rectangle 28"/>
          <p:cNvSpPr/>
          <p:nvPr/>
        </p:nvSpPr>
        <p:spPr>
          <a:xfrm>
            <a:off x="822960" y="5047488"/>
            <a:ext cx="10545775" cy="694944"/>
          </a:xfrm>
          <a:prstGeom prst="roundRect">
            <a:avLst>
              <a:gd name="adj" fmla="val 5921"/>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5148072"/>
            <a:ext cx="2194560" cy="457200"/>
          </a:xfrm>
          <a:prstGeom prst="rect">
            <a:avLst/>
          </a:prstGeom>
          <a:noFill/>
        </p:spPr>
        <p:txBody>
          <a:bodyPr wrap="square" lIns="0" rIns="0" tIns="0" bIns="0" anchor="t">
            <a:spAutoFit/>
          </a:bodyPr>
          <a:lstStyle/>
          <a:p>
            <a:pPr algn="l">
              <a:lnSpc>
                <a:spcPct val="116000"/>
              </a:lnSpc>
              <a:spcBef>
                <a:spcPts val="0"/>
              </a:spcBef>
              <a:spcAft>
                <a:spcPts val="200"/>
              </a:spcAft>
            </a:pPr>
            <a:r>
              <a:rPr sz="900" b="0" i="0">
                <a:solidFill>
                  <a:srgbClr val="101010"/>
                </a:solidFill>
                <a:latin typeface="Segoe UI Semibold"/>
              </a:rPr>
              <a:t>On Alpaca</a:t>
            </a:r>
          </a:p>
          <a:p>
            <a:pPr algn="l">
              <a:lnSpc>
                <a:spcPct val="116000"/>
              </a:lnSpc>
              <a:spcBef>
                <a:spcPts val="0"/>
              </a:spcBef>
              <a:spcAft>
                <a:spcPts val="400"/>
              </a:spcAft>
            </a:pPr>
            <a:r>
              <a:rPr sz="800" b="0" i="0">
                <a:solidFill>
                  <a:srgbClr val="979797"/>
                </a:solidFill>
                <a:latin typeface="Segoe UI"/>
              </a:rPr>
              <a:t>paper enforced at start-up</a:t>
            </a:r>
          </a:p>
        </p:txBody>
      </p:sp>
      <p:sp>
        <p:nvSpPr>
          <p:cNvPr id="31" name="TextBox 30"/>
          <p:cNvSpPr txBox="1"/>
          <p:nvPr/>
        </p:nvSpPr>
        <p:spPr>
          <a:xfrm>
            <a:off x="3337560" y="5148072"/>
            <a:ext cx="2606040" cy="457200"/>
          </a:xfrm>
          <a:prstGeom prst="rect">
            <a:avLst/>
          </a:prstGeom>
          <a:noFill/>
        </p:spPr>
        <p:txBody>
          <a:bodyPr wrap="square" lIns="0" rIns="0" tIns="0" bIns="0" anchor="t">
            <a:spAutoFit/>
          </a:bodyPr>
          <a:lstStyle/>
          <a:p>
            <a:pPr algn="l">
              <a:lnSpc>
                <a:spcPct val="116000"/>
              </a:lnSpc>
              <a:spcBef>
                <a:spcPts val="0"/>
              </a:spcBef>
              <a:spcAft>
                <a:spcPts val="200"/>
              </a:spcAft>
            </a:pPr>
            <a:r>
              <a:rPr sz="900" b="0" i="0">
                <a:solidFill>
                  <a:srgbClr val="101010"/>
                </a:solidFill>
                <a:latin typeface="Segoe UI Semibold"/>
              </a:rPr>
              <a:t>Trading API (alpaca-py)</a:t>
            </a:r>
          </a:p>
          <a:p>
            <a:pPr algn="l">
              <a:lnSpc>
                <a:spcPct val="120000"/>
              </a:lnSpc>
              <a:spcBef>
                <a:spcPts val="0"/>
              </a:spcBef>
              <a:spcAft>
                <a:spcPts val="400"/>
              </a:spcAft>
            </a:pPr>
            <a:r>
              <a:rPr sz="800" b="0" i="0">
                <a:solidFill>
                  <a:srgbClr val="626262"/>
                </a:solidFill>
                <a:latin typeface="Segoe UI"/>
              </a:rPr>
              <a:t>chains, multi-leg orders, positions, IEX bars for the calibration scores</a:t>
            </a:r>
          </a:p>
        </p:txBody>
      </p:sp>
      <p:sp>
        <p:nvSpPr>
          <p:cNvPr id="32" name="TextBox 31"/>
          <p:cNvSpPr txBox="1"/>
          <p:nvPr/>
        </p:nvSpPr>
        <p:spPr>
          <a:xfrm>
            <a:off x="6035040" y="5148072"/>
            <a:ext cx="2606040" cy="457200"/>
          </a:xfrm>
          <a:prstGeom prst="rect">
            <a:avLst/>
          </a:prstGeom>
          <a:noFill/>
        </p:spPr>
        <p:txBody>
          <a:bodyPr wrap="square" lIns="0" rIns="0" tIns="0" bIns="0" anchor="t">
            <a:spAutoFit/>
          </a:bodyPr>
          <a:lstStyle/>
          <a:p>
            <a:pPr algn="l">
              <a:lnSpc>
                <a:spcPct val="116000"/>
              </a:lnSpc>
              <a:spcBef>
                <a:spcPts val="0"/>
              </a:spcBef>
              <a:spcAft>
                <a:spcPts val="200"/>
              </a:spcAft>
            </a:pPr>
            <a:r>
              <a:rPr sz="900" b="0" i="0">
                <a:solidFill>
                  <a:srgbClr val="101010"/>
                </a:solidFill>
                <a:latin typeface="Segoe UI Semibold"/>
              </a:rPr>
              <a:t>Alpaca CLI</a:t>
            </a:r>
          </a:p>
          <a:p>
            <a:pPr algn="l">
              <a:lnSpc>
                <a:spcPct val="120000"/>
              </a:lnSpc>
              <a:spcBef>
                <a:spcPts val="0"/>
              </a:spcBef>
              <a:spcAft>
                <a:spcPts val="400"/>
              </a:spcAft>
            </a:pPr>
            <a:r>
              <a:rPr sz="800" b="0" i="0">
                <a:solidFill>
                  <a:srgbClr val="626262"/>
                </a:solidFill>
                <a:latin typeface="Segoe UI"/>
              </a:rPr>
              <a:t>independent monitoring and reconciliation path, JSON to disk</a:t>
            </a:r>
          </a:p>
        </p:txBody>
      </p:sp>
      <p:sp>
        <p:nvSpPr>
          <p:cNvPr id="33" name="TextBox 32"/>
          <p:cNvSpPr txBox="1"/>
          <p:nvPr/>
        </p:nvSpPr>
        <p:spPr>
          <a:xfrm>
            <a:off x="8732520" y="5148072"/>
            <a:ext cx="2606040" cy="457200"/>
          </a:xfrm>
          <a:prstGeom prst="rect">
            <a:avLst/>
          </a:prstGeom>
          <a:noFill/>
        </p:spPr>
        <p:txBody>
          <a:bodyPr wrap="square" lIns="0" rIns="0" tIns="0" bIns="0" anchor="t">
            <a:spAutoFit/>
          </a:bodyPr>
          <a:lstStyle/>
          <a:p>
            <a:pPr algn="l">
              <a:lnSpc>
                <a:spcPct val="116000"/>
              </a:lnSpc>
              <a:spcBef>
                <a:spcPts val="0"/>
              </a:spcBef>
              <a:spcAft>
                <a:spcPts val="200"/>
              </a:spcAft>
            </a:pPr>
            <a:r>
              <a:rPr sz="900" b="0" i="0">
                <a:solidFill>
                  <a:srgbClr val="101010"/>
                </a:solidFill>
                <a:latin typeface="Segoe UI Semibold"/>
              </a:rPr>
              <a:t>Alpaca MCP server</a:t>
            </a:r>
          </a:p>
          <a:p>
            <a:pPr algn="l">
              <a:lnSpc>
                <a:spcPct val="120000"/>
              </a:lnSpc>
              <a:spcBef>
                <a:spcPts val="0"/>
              </a:spcBef>
              <a:spcAft>
                <a:spcPts val="400"/>
              </a:spcAft>
            </a:pPr>
            <a:r>
              <a:rPr sz="800" b="0" i="0">
                <a:solidFill>
                  <a:srgbClr val="626262"/>
                </a:solidFill>
                <a:latin typeface="Segoe UI"/>
              </a:rPr>
              <a:t>operator inspection of account and chains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Live operation and results</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The evaluation object is the per-session ledger of the certified cost against the market's price. It is written even when nothing trades.</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In the repository: [R8] docs/ledger.json and docs/index.html; [R3] docs/evidence.md; [R7] docs/report_2026-09-02.md, the pilot session on the development account; [R11] scripts/reproduce.py. Monte Carlo null: README.md 'What was trained on history'.</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7</a:t>
            </a:r>
          </a:p>
        </p:txBody>
      </p:sp>
      <p:sp>
        <p:nvSpPr>
          <p:cNvPr id="9" name="Rounded Rectangle 8"/>
          <p:cNvSpPr/>
          <p:nvPr/>
        </p:nvSpPr>
        <p:spPr>
          <a:xfrm>
            <a:off x="822960" y="1883664"/>
            <a:ext cx="10545775" cy="2212848"/>
          </a:xfrm>
          <a:prstGeom prst="roundRect">
            <a:avLst>
              <a:gd name="adj" fmla="val 1859"/>
            </a:avLst>
          </a:prstGeom>
          <a:solidFill>
            <a:srgbClr val="FAFAFA"/>
          </a:solidFill>
          <a:ln w="9525">
            <a:solidFill>
              <a:srgbClr val="97979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615184"/>
            <a:ext cx="9814255" cy="822960"/>
          </a:xfrm>
          <a:prstGeom prst="rect">
            <a:avLst/>
          </a:prstGeom>
          <a:noFill/>
        </p:spPr>
        <p:txBody>
          <a:bodyPr wrap="square" lIns="0" rIns="0" tIns="0" bIns="0" anchor="t">
            <a:spAutoFit/>
          </a:bodyPr>
          <a:lstStyle/>
          <a:p>
            <a:pPr algn="ctr">
              <a:lnSpc>
                <a:spcPct val="116000"/>
              </a:lnSpc>
              <a:spcBef>
                <a:spcPts val="0"/>
              </a:spcBef>
              <a:spcAft>
                <a:spcPts val="600"/>
              </a:spcAft>
            </a:pPr>
            <a:r>
              <a:rPr sz="1300" b="0" i="0">
                <a:solidFill>
                  <a:srgbClr val="626262"/>
                </a:solidFill>
                <a:latin typeface="Segoe UI Semibold"/>
              </a:rPr>
              <a:t>[ dashboard — to be inserted ]</a:t>
            </a:r>
          </a:p>
          <a:p>
            <a:pPr algn="ctr">
              <a:lnSpc>
                <a:spcPct val="125000"/>
              </a:lnSpc>
              <a:spcBef>
                <a:spcPts val="0"/>
              </a:spcBef>
              <a:spcAft>
                <a:spcPts val="400"/>
              </a:spcAft>
            </a:pPr>
            <a:r>
              <a:rPr sz="900" b="0" i="0">
                <a:solidFill>
                  <a:srgbClr val="979797"/>
                </a:solidFill>
                <a:latin typeface="Segoe UI"/>
              </a:rPr>
              <a:t>In the video this frame carries the screen capture: the dashboard, one full cycle in the audit log, the CLI status call and one MCP call.</a:t>
            </a:r>
          </a:p>
        </p:txBody>
      </p:sp>
      <p:sp>
        <p:nvSpPr>
          <p:cNvPr id="11" name="Rounded Rectangle 10"/>
          <p:cNvSpPr/>
          <p:nvPr/>
        </p:nvSpPr>
        <p:spPr>
          <a:xfrm>
            <a:off x="822960" y="4279392"/>
            <a:ext cx="2485567" cy="1298448"/>
          </a:xfrm>
          <a:prstGeom prst="roundRect">
            <a:avLst>
              <a:gd name="adj" fmla="val 3169"/>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4407408"/>
            <a:ext cx="2156383" cy="22860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Session activity</a:t>
            </a:r>
          </a:p>
        </p:txBody>
      </p:sp>
      <p:sp>
        <p:nvSpPr>
          <p:cNvPr id="13" name="TextBox 12"/>
          <p:cNvSpPr txBox="1"/>
          <p:nvPr/>
        </p:nvSpPr>
        <p:spPr>
          <a:xfrm>
            <a:off x="987552" y="4663440"/>
            <a:ext cx="2156383" cy="658368"/>
          </a:xfrm>
          <a:prstGeom prst="rect">
            <a:avLst/>
          </a:prstGeom>
          <a:noFill/>
        </p:spPr>
        <p:txBody>
          <a:bodyPr wrap="square" lIns="0" rIns="0" tIns="0" bIns="0" anchor="t">
            <a:spAutoFit/>
          </a:bodyPr>
          <a:lstStyle/>
          <a:p>
            <a:pPr algn="l">
              <a:lnSpc>
                <a:spcPct val="125000"/>
              </a:lnSpc>
              <a:spcBef>
                <a:spcPts val="0"/>
              </a:spcBef>
              <a:spcAft>
                <a:spcPts val="0"/>
              </a:spcAft>
            </a:pPr>
            <a:r>
              <a:rPr sz="800" b="0" i="0">
                <a:solidFill>
                  <a:srgbClr val="626262"/>
                </a:solidFill>
                <a:latin typeface="Segoe UI"/>
              </a:rPr>
              <a:t>cycles, gate evaluations, orders, package fills, time to flat</a:t>
            </a:r>
          </a:p>
        </p:txBody>
      </p:sp>
      <p:sp>
        <p:nvSpPr>
          <p:cNvPr id="14" name="Rounded Rectangle 13"/>
          <p:cNvSpPr/>
          <p:nvPr/>
        </p:nvSpPr>
        <p:spPr>
          <a:xfrm>
            <a:off x="987552" y="5321808"/>
            <a:ext cx="1481328" cy="182880"/>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to be filled Friday</a:t>
            </a:r>
          </a:p>
        </p:txBody>
      </p:sp>
      <p:sp>
        <p:nvSpPr>
          <p:cNvPr id="15" name="Rounded Rectangle 14"/>
          <p:cNvSpPr/>
          <p:nvPr/>
        </p:nvSpPr>
        <p:spPr>
          <a:xfrm>
            <a:off x="3509695" y="4279392"/>
            <a:ext cx="2485567" cy="1298448"/>
          </a:xfrm>
          <a:prstGeom prst="roundRect">
            <a:avLst>
              <a:gd name="adj" fmla="val 3169"/>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4287" y="4407408"/>
            <a:ext cx="2156383" cy="22860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P versus Q</a:t>
            </a:r>
          </a:p>
        </p:txBody>
      </p:sp>
      <p:sp>
        <p:nvSpPr>
          <p:cNvPr id="17" name="TextBox 16"/>
          <p:cNvSpPr txBox="1"/>
          <p:nvPr/>
        </p:nvSpPr>
        <p:spPr>
          <a:xfrm>
            <a:off x="3674287" y="4663440"/>
            <a:ext cx="2156383" cy="658368"/>
          </a:xfrm>
          <a:prstGeom prst="rect">
            <a:avLst/>
          </a:prstGeom>
          <a:noFill/>
        </p:spPr>
        <p:txBody>
          <a:bodyPr wrap="square" lIns="0" rIns="0" tIns="0" bIns="0" anchor="t">
            <a:spAutoFit/>
          </a:bodyPr>
          <a:lstStyle/>
          <a:p>
            <a:pPr algn="l">
              <a:lnSpc>
                <a:spcPct val="125000"/>
              </a:lnSpc>
              <a:spcBef>
                <a:spcPts val="0"/>
              </a:spcBef>
              <a:spcAft>
                <a:spcPts val="0"/>
              </a:spcAft>
            </a:pPr>
            <a:r>
              <a:rPr sz="800" b="0" i="0">
                <a:solidFill>
                  <a:srgbClr val="626262"/>
                </a:solidFill>
                <a:latin typeface="Segoe UI"/>
              </a:rPr>
              <a:t>credit / wing at the fill against the 0.15 condition, certified payout, gap, decision, and what the fixed rule would have done</a:t>
            </a:r>
          </a:p>
        </p:txBody>
      </p:sp>
      <p:sp>
        <p:nvSpPr>
          <p:cNvPr id="18" name="Rounded Rectangle 17"/>
          <p:cNvSpPr/>
          <p:nvPr/>
        </p:nvSpPr>
        <p:spPr>
          <a:xfrm>
            <a:off x="3674287" y="5321808"/>
            <a:ext cx="1481328" cy="182880"/>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to be filled Friday</a:t>
            </a:r>
          </a:p>
        </p:txBody>
      </p:sp>
      <p:sp>
        <p:nvSpPr>
          <p:cNvPr id="19" name="Rounded Rectangle 18"/>
          <p:cNvSpPr/>
          <p:nvPr/>
        </p:nvSpPr>
        <p:spPr>
          <a:xfrm>
            <a:off x="6196431" y="4279392"/>
            <a:ext cx="2485567" cy="1298448"/>
          </a:xfrm>
          <a:prstGeom prst="roundRect">
            <a:avLst>
              <a:gd name="adj" fmla="val 3169"/>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1023" y="4407408"/>
            <a:ext cx="2156383" cy="22860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Where it said no</a:t>
            </a:r>
          </a:p>
        </p:txBody>
      </p:sp>
      <p:sp>
        <p:nvSpPr>
          <p:cNvPr id="21" name="TextBox 20"/>
          <p:cNvSpPr txBox="1"/>
          <p:nvPr/>
        </p:nvSpPr>
        <p:spPr>
          <a:xfrm>
            <a:off x="6361023" y="4663440"/>
            <a:ext cx="2156383" cy="658368"/>
          </a:xfrm>
          <a:prstGeom prst="rect">
            <a:avLst/>
          </a:prstGeom>
          <a:noFill/>
        </p:spPr>
        <p:txBody>
          <a:bodyPr wrap="square" lIns="0" rIns="0" tIns="0" bIns="0" anchor="t">
            <a:spAutoFit/>
          </a:bodyPr>
          <a:lstStyle/>
          <a:p>
            <a:pPr algn="l">
              <a:lnSpc>
                <a:spcPct val="125000"/>
              </a:lnSpc>
              <a:spcBef>
                <a:spcPts val="0"/>
              </a:spcBef>
              <a:spcAft>
                <a:spcPts val="0"/>
              </a:spcAft>
            </a:pPr>
            <a:r>
              <a:rPr sz="800" b="0" i="0">
                <a:solidFill>
                  <a:srgbClr val="626262"/>
                </a:solidFill>
                <a:latin typeface="Segoe UI"/>
              </a:rPr>
              <a:t>gate rejections per gate and the deduplicated NO_TRADE reasons</a:t>
            </a:r>
          </a:p>
        </p:txBody>
      </p:sp>
      <p:sp>
        <p:nvSpPr>
          <p:cNvPr id="22" name="Rounded Rectangle 21"/>
          <p:cNvSpPr/>
          <p:nvPr/>
        </p:nvSpPr>
        <p:spPr>
          <a:xfrm>
            <a:off x="6361023" y="5321808"/>
            <a:ext cx="1481328" cy="182880"/>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to be filled Friday</a:t>
            </a:r>
          </a:p>
        </p:txBody>
      </p:sp>
      <p:sp>
        <p:nvSpPr>
          <p:cNvPr id="23" name="Rounded Rectangle 22"/>
          <p:cNvSpPr/>
          <p:nvPr/>
        </p:nvSpPr>
        <p:spPr>
          <a:xfrm>
            <a:off x="8883167" y="4279392"/>
            <a:ext cx="2485567" cy="1298448"/>
          </a:xfrm>
          <a:prstGeom prst="roundRect">
            <a:avLst>
              <a:gd name="adj" fmla="val 3169"/>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47759" y="4407408"/>
            <a:ext cx="2156383" cy="22860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Against a null</a:t>
            </a:r>
          </a:p>
        </p:txBody>
      </p:sp>
      <p:sp>
        <p:nvSpPr>
          <p:cNvPr id="25" name="TextBox 24"/>
          <p:cNvSpPr txBox="1"/>
          <p:nvPr/>
        </p:nvSpPr>
        <p:spPr>
          <a:xfrm>
            <a:off x="9047759" y="4663440"/>
            <a:ext cx="2156383" cy="658368"/>
          </a:xfrm>
          <a:prstGeom prst="rect">
            <a:avLst/>
          </a:prstGeom>
          <a:noFill/>
        </p:spPr>
        <p:txBody>
          <a:bodyPr wrap="square" lIns="0" rIns="0" tIns="0" bIns="0" anchor="t">
            <a:spAutoFit/>
          </a:bodyPr>
          <a:lstStyle/>
          <a:p>
            <a:pPr algn="l">
              <a:lnSpc>
                <a:spcPct val="125000"/>
              </a:lnSpc>
              <a:spcBef>
                <a:spcPts val="0"/>
              </a:spcBef>
              <a:spcAft>
                <a:spcPts val="0"/>
              </a:spcAft>
            </a:pPr>
            <a:r>
              <a:rPr sz="800" b="0" i="0">
                <a:solidFill>
                  <a:srgbClr val="626262"/>
                </a:solidFill>
                <a:latin typeface="Segoe UI"/>
              </a:rPr>
              <a:t>profit and loss versus SPY over the same hours, and its percentile in the pre-registered random-entry Monte Carlo null: median +259, P05 −503 dollars</a:t>
            </a:r>
          </a:p>
        </p:txBody>
      </p:sp>
      <p:sp>
        <p:nvSpPr>
          <p:cNvPr id="26" name="Rounded Rectangle 25"/>
          <p:cNvSpPr/>
          <p:nvPr/>
        </p:nvSpPr>
        <p:spPr>
          <a:xfrm>
            <a:off x="9047759" y="5321808"/>
            <a:ext cx="1481328" cy="182880"/>
          </a:xfrm>
          <a:prstGeom prst="roundRect">
            <a:avLst>
              <a:gd name="adj" fmla="val 6000"/>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6000"/>
              </a:lnSpc>
              <a:spcBef>
                <a:spcPts val="0"/>
              </a:spcBef>
              <a:spcAft>
                <a:spcPts val="0"/>
              </a:spcAft>
            </a:pPr>
            <a:r>
              <a:rPr sz="800" b="0" i="0">
                <a:solidFill>
                  <a:srgbClr val="101010"/>
                </a:solidFill>
                <a:latin typeface="Segoe UI Semibold"/>
              </a:rPr>
              <a:t>to be filled Friday</a:t>
            </a:r>
          </a:p>
        </p:txBody>
      </p:sp>
      <p:sp>
        <p:nvSpPr>
          <p:cNvPr id="27" name="TextBox 26"/>
          <p:cNvSpPr txBox="1"/>
          <p:nvPr/>
        </p:nvSpPr>
        <p:spPr>
          <a:xfrm>
            <a:off x="822960" y="5650992"/>
            <a:ext cx="10545775" cy="219456"/>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The 2026-09-02 pilot session — one contract, the fixed-strike rule, +$14 — ran on a separate development account and is labelled as such in the repository. [R7]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Scope of the claim, and next steps</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What is machine-checked, what is assumed, what is not claimed, and what more data would change.</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[4] Bailey &amp; Lopez de Prado 2014. [14] Goetzmann, Ingersoll, Spiegel &amp; Welch 2007. [16] Lekeufack et al., ICRA 2024; Ryan 2026. [17] Jin &amp; Ren 2025; Gibbs, Cherian &amp; Candes 2025; Xu, Guo &amp; Wei 2025. [18] Ushakov &amp; Berdinsky 2026; Coelho 2026. In the repository: [R6] lean/Delphi/Condor.lean and lean/README.md; [R1] docs/THEORY.md sections 6 and 8; [R12] research/STATE_OF_THE_ART.md section 14.</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8</a:t>
            </a:r>
          </a:p>
        </p:txBody>
      </p:sp>
      <p:sp>
        <p:nvSpPr>
          <p:cNvPr id="9" name="Rectangle 8"/>
          <p:cNvSpPr/>
          <p:nvPr/>
        </p:nvSpPr>
        <p:spPr>
          <a:xfrm>
            <a:off x="822960" y="1883664"/>
            <a:ext cx="2430703"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29968"/>
            <a:ext cx="2430703"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Proved</a:t>
            </a:r>
          </a:p>
        </p:txBody>
      </p:sp>
      <p:sp>
        <p:nvSpPr>
          <p:cNvPr id="11" name="TextBox 10"/>
          <p:cNvSpPr txBox="1"/>
          <p:nvPr/>
        </p:nvSpPr>
        <p:spPr>
          <a:xfrm>
            <a:off x="822960" y="2359152"/>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13 theorems in Lean 4 with Mathlib, no </a:t>
            </a:r>
            <a:r>
              <a:rPr sz="850" b="0" i="0">
                <a:solidFill>
                  <a:srgbClr val="2B373B"/>
                </a:solidFill>
                <a:latin typeface="Consolas"/>
              </a:rPr>
              <a:t>sorry</a:t>
            </a:r>
            <a:r>
              <a:rPr sz="900" b="0" i="0">
                <a:solidFill>
                  <a:srgbClr val="2B373B"/>
                </a:solidFill>
                <a:latin typeface="Segoe UI"/>
              </a:rPr>
              <a:t>, on the three standard axioms.</a:t>
            </a:r>
          </a:p>
        </p:txBody>
      </p:sp>
      <p:sp>
        <p:nvSpPr>
          <p:cNvPr id="12" name="TextBox 11"/>
          <p:cNvSpPr txBox="1"/>
          <p:nvPr/>
        </p:nvSpPr>
        <p:spPr>
          <a:xfrm>
            <a:off x="822960" y="2894990"/>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The condor loss lies in [0, 1] and is non-increasing in the radius; the payoff is affine in the loss; and if the average calibration loss is at most beta and the credit is at least (beta + margin) x wing, the average payoff is at least margin x wing.</a:t>
            </a:r>
          </a:p>
        </p:txBody>
      </p:sp>
      <p:sp>
        <p:nvSpPr>
          <p:cNvPr id="13" name="TextBox 12"/>
          <p:cNvSpPr txBox="1"/>
          <p:nvPr/>
        </p:nvSpPr>
        <p:spPr>
          <a:xfrm>
            <a:off x="822960" y="4027017"/>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Option pricing has been formalised before and we cite it. A machine-checked risk-control lemma for a trading decision rule we did not find. [R6][18]</a:t>
            </a:r>
          </a:p>
        </p:txBody>
      </p:sp>
      <p:sp>
        <p:nvSpPr>
          <p:cNvPr id="14" name="Rectangle 13"/>
          <p:cNvSpPr/>
          <p:nvPr/>
        </p:nvSpPr>
        <p:spPr>
          <a:xfrm>
            <a:off x="3527983" y="1883664"/>
            <a:ext cx="2430703" cy="50292"/>
          </a:xfrm>
          <a:prstGeom prst="rect">
            <a:avLst/>
          </a:prstGeom>
          <a:solidFill>
            <a:srgbClr val="C7A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7983" y="2029968"/>
            <a:ext cx="2430703"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Assumed</a:t>
            </a:r>
          </a:p>
        </p:txBody>
      </p:sp>
      <p:sp>
        <p:nvSpPr>
          <p:cNvPr id="16" name="TextBox 15"/>
          <p:cNvSpPr txBox="1"/>
          <p:nvPr/>
        </p:nvSpPr>
        <p:spPr>
          <a:xfrm>
            <a:off x="3527983" y="2359152"/>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Exchangeability of the calibration scores.</a:t>
            </a:r>
          </a:p>
        </p:txBody>
      </p:sp>
      <p:sp>
        <p:nvSpPr>
          <p:cNvPr id="17" name="TextBox 16"/>
          <p:cNvSpPr txBox="1"/>
          <p:nvPr/>
        </p:nvSpPr>
        <p:spPr>
          <a:xfrm>
            <a:off x="3527983" y="2745943"/>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The certificate is marginal, while the trade condition selects sessions through a quantity that depends on the certified radius. Validity conditional on the gate opening does not follow; the exact repair needs a credit history the basic data plan does not have. [17]</a:t>
            </a:r>
          </a:p>
        </p:txBody>
      </p:sp>
      <p:sp>
        <p:nvSpPr>
          <p:cNvPr id="18" name="TextBox 17"/>
          <p:cNvSpPr txBox="1"/>
          <p:nvPr/>
        </p:nvSpPr>
        <p:spPr>
          <a:xfrm>
            <a:off x="3527983" y="3877970"/>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The e-process null is conditional and therefore stronger than the theorem. [R1, section 6 and Theorem 3, remark v]</a:t>
            </a:r>
          </a:p>
        </p:txBody>
      </p:sp>
      <p:sp>
        <p:nvSpPr>
          <p:cNvPr id="19" name="Rectangle 18"/>
          <p:cNvSpPr/>
          <p:nvPr/>
        </p:nvSpPr>
        <p:spPr>
          <a:xfrm>
            <a:off x="6233007" y="1883664"/>
            <a:ext cx="2430703" cy="50292"/>
          </a:xfrm>
          <a:prstGeom prst="rect">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2029968"/>
            <a:ext cx="2430703"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Not claimed</a:t>
            </a:r>
          </a:p>
        </p:txBody>
      </p:sp>
      <p:sp>
        <p:nvSpPr>
          <p:cNvPr id="21" name="TextBox 20"/>
          <p:cNvSpPr txBox="1"/>
          <p:nvPr/>
        </p:nvSpPr>
        <p:spPr>
          <a:xfrm>
            <a:off x="6233007" y="2359152"/>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No Sharpe ratio, win rate or annualised return. The Sharpe-maximising manipulation is precisely our instrument, so the number would be uninformative even if it were computable. [4][14]</a:t>
            </a:r>
          </a:p>
        </p:txBody>
      </p:sp>
      <p:sp>
        <p:nvSpPr>
          <p:cNvPr id="22" name="TextBox 21"/>
          <p:cNvSpPr txBox="1"/>
          <p:nvPr/>
        </p:nvSpPr>
        <p:spPr>
          <a:xfrm>
            <a:off x="6233007" y="3342132"/>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No intraday variance risk premium. The measurable half is overnight and is forgone by construction. [3][R1, section 8]</a:t>
            </a:r>
          </a:p>
        </p:txBody>
      </p:sp>
      <p:sp>
        <p:nvSpPr>
          <p:cNvPr id="23" name="TextBox 22"/>
          <p:cNvSpPr txBox="1"/>
          <p:nvPr/>
        </p:nvSpPr>
        <p:spPr>
          <a:xfrm>
            <a:off x="6233007" y="4027017"/>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Not the first conformal trading decision: that prior art exists and is cited. [16]</a:t>
            </a:r>
          </a:p>
        </p:txBody>
      </p:sp>
      <p:sp>
        <p:nvSpPr>
          <p:cNvPr id="24" name="TextBox 23"/>
          <p:cNvSpPr txBox="1"/>
          <p:nvPr/>
        </p:nvSpPr>
        <p:spPr>
          <a:xfrm>
            <a:off x="6233007" y="4562856"/>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The online level currently has no effect on the interval and is a one-sided safety valve.</a:t>
            </a:r>
          </a:p>
        </p:txBody>
      </p:sp>
      <p:sp>
        <p:nvSpPr>
          <p:cNvPr id="25" name="Rectangle 24"/>
          <p:cNvSpPr/>
          <p:nvPr/>
        </p:nvSpPr>
        <p:spPr>
          <a:xfrm>
            <a:off x="8938031" y="1883664"/>
            <a:ext cx="2430703" cy="50292"/>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38031" y="2029968"/>
            <a:ext cx="2430703" cy="256032"/>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Next</a:t>
            </a:r>
          </a:p>
        </p:txBody>
      </p:sp>
      <p:sp>
        <p:nvSpPr>
          <p:cNvPr id="27" name="TextBox 26"/>
          <p:cNvSpPr txBox="1"/>
          <p:nvPr/>
        </p:nvSpPr>
        <p:spPr>
          <a:xfrm>
            <a:off x="8938031" y="2359152"/>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A 1DTE overnight condor entered near 15:00 ET, calibrated on the close-to-close horizon where the regime model has fifteen validation blocks.</a:t>
            </a:r>
          </a:p>
        </p:txBody>
      </p:sp>
      <p:sp>
        <p:nvSpPr>
          <p:cNvPr id="28" name="TextBox 27"/>
          <p:cNvSpPr txBox="1"/>
          <p:nvPr/>
        </p:nvSpPr>
        <p:spPr>
          <a:xfrm>
            <a:off x="8938031" y="3193084"/>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An option-price history, so the market side of the ledger can be back-tested rather than only logged.</a:t>
            </a:r>
          </a:p>
        </p:txBody>
      </p:sp>
      <p:sp>
        <p:nvSpPr>
          <p:cNvPr id="29" name="TextBox 28"/>
          <p:cNvSpPr txBox="1"/>
          <p:nvPr/>
        </p:nvSpPr>
        <p:spPr>
          <a:xfrm>
            <a:off x="8938031" y="3877970"/>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The 10:30 series extended to 2018, so the model comparison gains power.</a:t>
            </a:r>
          </a:p>
        </p:txBody>
      </p:sp>
      <p:sp>
        <p:nvSpPr>
          <p:cNvPr id="30" name="TextBox 29"/>
          <p:cNvSpPr txBox="1"/>
          <p:nvPr/>
        </p:nvSpPr>
        <p:spPr>
          <a:xfrm>
            <a:off x="8938031" y="4413808"/>
            <a:ext cx="2430703" cy="10972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Mondrian conditioning on the gate event; five votes instead of three.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450" b="0" i="0">
                <a:solidFill>
                  <a:srgbClr val="101010"/>
                </a:solidFill>
                <a:latin typeface="Segoe UI Semibold"/>
              </a:rPr>
              <a:t>Backup: the certified interval replayed through history</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618 calibrated sessions, 2024-01-02 to 2026-09-01. The realised payout ratio stays below the certificate in every year; the fixed-strike rule drifts with whatever the year's realised-to-implied ratio happens to be.</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Repo: [R2] docs/conformal_backfill.md, replayed 2026-09-02; [R10] research/G_conformal_condor.md. Score = |close / price at 10:30 − 1| divided by the VIX-implied expected absolute daily move; wing 0.50 % of spot. No option prices exist in this history, so the market side of the ledger cannot be back-tested.</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  ·  Appendix</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9</a:t>
            </a:r>
          </a:p>
        </p:txBody>
      </p:sp>
      <p:sp>
        <p:nvSpPr>
          <p:cNvPr id="9" name="TextBox 8"/>
          <p:cNvSpPr txBox="1"/>
          <p:nvPr/>
        </p:nvSpPr>
        <p:spPr>
          <a:xfrm>
            <a:off x="822960" y="1920240"/>
            <a:ext cx="2228630" cy="329184"/>
          </a:xfrm>
          <a:prstGeom prst="rect">
            <a:avLst/>
          </a:prstGeom>
          <a:noFill/>
        </p:spPr>
        <p:txBody>
          <a:bodyPr wrap="square" lIns="0" rIns="0" tIns="0" bIns="0" anchor="b">
            <a:spAutoFit/>
          </a:bodyPr>
          <a:lstStyle/>
          <a:p>
            <a:pPr algn="l">
              <a:lnSpc>
                <a:spcPct val="116000"/>
              </a:lnSpc>
              <a:spcBef>
                <a:spcPts val="0"/>
              </a:spcBef>
              <a:spcAft>
                <a:spcPts val="0"/>
              </a:spcAft>
            </a:pPr>
          </a:p>
        </p:txBody>
      </p:sp>
      <p:sp>
        <p:nvSpPr>
          <p:cNvPr id="10" name="TextBox 9"/>
          <p:cNvSpPr txBox="1"/>
          <p:nvPr/>
        </p:nvSpPr>
        <p:spPr>
          <a:xfrm>
            <a:off x="3143030" y="1920240"/>
            <a:ext cx="963137" cy="329184"/>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sessions</a:t>
            </a:r>
          </a:p>
        </p:txBody>
      </p:sp>
      <p:sp>
        <p:nvSpPr>
          <p:cNvPr id="11" name="TextBox 10"/>
          <p:cNvSpPr txBox="1"/>
          <p:nvPr/>
        </p:nvSpPr>
        <p:spPr>
          <a:xfrm>
            <a:off x="4197608" y="1920240"/>
            <a:ext cx="1701341" cy="329184"/>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realised payout ratio</a:t>
            </a:r>
          </a:p>
        </p:txBody>
      </p:sp>
      <p:sp>
        <p:nvSpPr>
          <p:cNvPr id="12" name="TextBox 11"/>
          <p:cNvSpPr txBox="1"/>
          <p:nvPr/>
        </p:nvSpPr>
        <p:spPr>
          <a:xfrm>
            <a:off x="5990389" y="1920240"/>
            <a:ext cx="1279510" cy="329184"/>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target</a:t>
            </a:r>
          </a:p>
        </p:txBody>
      </p:sp>
      <p:sp>
        <p:nvSpPr>
          <p:cNvPr id="13" name="TextBox 12"/>
          <p:cNvSpPr txBox="1"/>
          <p:nvPr/>
        </p:nvSpPr>
        <p:spPr>
          <a:xfrm>
            <a:off x="7361340" y="1920240"/>
            <a:ext cx="1279510" cy="329184"/>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mean radius</a:t>
            </a:r>
          </a:p>
        </p:txBody>
      </p:sp>
      <p:sp>
        <p:nvSpPr>
          <p:cNvPr id="14" name="TextBox 13"/>
          <p:cNvSpPr txBox="1"/>
          <p:nvPr/>
        </p:nvSpPr>
        <p:spPr>
          <a:xfrm>
            <a:off x="8732291" y="1920240"/>
            <a:ext cx="1279510" cy="329184"/>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fixed rule 1.10x</a:t>
            </a:r>
          </a:p>
        </p:txBody>
      </p:sp>
      <p:sp>
        <p:nvSpPr>
          <p:cNvPr id="15" name="TextBox 14"/>
          <p:cNvSpPr txBox="1"/>
          <p:nvPr/>
        </p:nvSpPr>
        <p:spPr>
          <a:xfrm>
            <a:off x="10103242" y="1920240"/>
            <a:ext cx="1174053" cy="329184"/>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coverage</a:t>
            </a:r>
          </a:p>
        </p:txBody>
      </p:sp>
      <p:sp>
        <p:nvSpPr>
          <p:cNvPr id="16" name="Rectangle 15"/>
          <p:cNvSpPr/>
          <p:nvPr/>
        </p:nvSpPr>
        <p:spPr>
          <a:xfrm>
            <a:off x="822960" y="2276856"/>
            <a:ext cx="10545775"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359152"/>
            <a:ext cx="2228630" cy="329184"/>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101010"/>
                </a:solidFill>
                <a:latin typeface="Segoe UI Semibold"/>
              </a:rPr>
              <a:t>All calibrated sessions</a:t>
            </a:r>
          </a:p>
        </p:txBody>
      </p:sp>
      <p:sp>
        <p:nvSpPr>
          <p:cNvPr id="18" name="TextBox 17"/>
          <p:cNvSpPr txBox="1"/>
          <p:nvPr/>
        </p:nvSpPr>
        <p:spPr>
          <a:xfrm>
            <a:off x="3143030" y="2359152"/>
            <a:ext cx="963137"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618</a:t>
            </a:r>
          </a:p>
        </p:txBody>
      </p:sp>
      <p:sp>
        <p:nvSpPr>
          <p:cNvPr id="19" name="TextBox 18"/>
          <p:cNvSpPr txBox="1"/>
          <p:nvPr/>
        </p:nvSpPr>
        <p:spPr>
          <a:xfrm>
            <a:off x="4197608" y="2359152"/>
            <a:ext cx="1701341"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101010"/>
                </a:solidFill>
                <a:latin typeface="Segoe UI Semibold"/>
              </a:rPr>
              <a:t>0.0792</a:t>
            </a:r>
          </a:p>
        </p:txBody>
      </p:sp>
      <p:sp>
        <p:nvSpPr>
          <p:cNvPr id="20" name="TextBox 19"/>
          <p:cNvSpPr txBox="1"/>
          <p:nvPr/>
        </p:nvSpPr>
        <p:spPr>
          <a:xfrm>
            <a:off x="5990389" y="2359152"/>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0.10</a:t>
            </a:r>
          </a:p>
        </p:txBody>
      </p:sp>
      <p:sp>
        <p:nvSpPr>
          <p:cNvPr id="21" name="TextBox 20"/>
          <p:cNvSpPr txBox="1"/>
          <p:nvPr/>
        </p:nvSpPr>
        <p:spPr>
          <a:xfrm>
            <a:off x="7361340" y="2359152"/>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0.809</a:t>
            </a:r>
          </a:p>
        </p:txBody>
      </p:sp>
      <p:sp>
        <p:nvSpPr>
          <p:cNvPr id="22" name="TextBox 21"/>
          <p:cNvSpPr txBox="1"/>
          <p:nvPr/>
        </p:nvSpPr>
        <p:spPr>
          <a:xfrm>
            <a:off x="8732291" y="2359152"/>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0.1039</a:t>
            </a:r>
          </a:p>
        </p:txBody>
      </p:sp>
      <p:sp>
        <p:nvSpPr>
          <p:cNvPr id="23" name="TextBox 22"/>
          <p:cNvSpPr txBox="1"/>
          <p:nvPr/>
        </p:nvSpPr>
        <p:spPr>
          <a:xfrm>
            <a:off x="10103242" y="2359152"/>
            <a:ext cx="1174053"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0.806</a:t>
            </a:r>
          </a:p>
        </p:txBody>
      </p:sp>
      <p:sp>
        <p:nvSpPr>
          <p:cNvPr id="24" name="Rectangle 23"/>
          <p:cNvSpPr/>
          <p:nvPr/>
        </p:nvSpPr>
        <p:spPr>
          <a:xfrm>
            <a:off x="822960" y="2670048"/>
            <a:ext cx="10545775"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2688336"/>
            <a:ext cx="2228630" cy="329184"/>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2024</a:t>
            </a:r>
          </a:p>
        </p:txBody>
      </p:sp>
      <p:sp>
        <p:nvSpPr>
          <p:cNvPr id="26" name="TextBox 25"/>
          <p:cNvSpPr txBox="1"/>
          <p:nvPr/>
        </p:nvSpPr>
        <p:spPr>
          <a:xfrm>
            <a:off x="3143030" y="2688336"/>
            <a:ext cx="963137"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202</a:t>
            </a:r>
          </a:p>
        </p:txBody>
      </p:sp>
      <p:sp>
        <p:nvSpPr>
          <p:cNvPr id="27" name="TextBox 26"/>
          <p:cNvSpPr txBox="1"/>
          <p:nvPr/>
        </p:nvSpPr>
        <p:spPr>
          <a:xfrm>
            <a:off x="4197608" y="2688336"/>
            <a:ext cx="1701341"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0.0703</a:t>
            </a:r>
          </a:p>
        </p:txBody>
      </p:sp>
      <p:sp>
        <p:nvSpPr>
          <p:cNvPr id="28" name="TextBox 27"/>
          <p:cNvSpPr txBox="1"/>
          <p:nvPr/>
        </p:nvSpPr>
        <p:spPr>
          <a:xfrm>
            <a:off x="5990389" y="2688336"/>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0.10</a:t>
            </a:r>
          </a:p>
        </p:txBody>
      </p:sp>
      <p:sp>
        <p:nvSpPr>
          <p:cNvPr id="29" name="TextBox 28"/>
          <p:cNvSpPr txBox="1"/>
          <p:nvPr/>
        </p:nvSpPr>
        <p:spPr>
          <a:xfrm>
            <a:off x="7361340" y="2688336"/>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0.972</a:t>
            </a:r>
          </a:p>
        </p:txBody>
      </p:sp>
      <p:sp>
        <p:nvSpPr>
          <p:cNvPr id="30" name="TextBox 29"/>
          <p:cNvSpPr txBox="1"/>
          <p:nvPr/>
        </p:nvSpPr>
        <p:spPr>
          <a:xfrm>
            <a:off x="8732291" y="2688336"/>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0.1188</a:t>
            </a:r>
          </a:p>
        </p:txBody>
      </p:sp>
      <p:sp>
        <p:nvSpPr>
          <p:cNvPr id="31" name="TextBox 30"/>
          <p:cNvSpPr txBox="1"/>
          <p:nvPr/>
        </p:nvSpPr>
        <p:spPr>
          <a:xfrm>
            <a:off x="10103242" y="2688336"/>
            <a:ext cx="1174053"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0.832</a:t>
            </a:r>
          </a:p>
        </p:txBody>
      </p:sp>
      <p:sp>
        <p:nvSpPr>
          <p:cNvPr id="32" name="Rectangle 31"/>
          <p:cNvSpPr/>
          <p:nvPr/>
        </p:nvSpPr>
        <p:spPr>
          <a:xfrm>
            <a:off x="822960" y="2999232"/>
            <a:ext cx="10545775"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3017520"/>
            <a:ext cx="2228630" cy="329184"/>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2025</a:t>
            </a:r>
          </a:p>
        </p:txBody>
      </p:sp>
      <p:sp>
        <p:nvSpPr>
          <p:cNvPr id="34" name="TextBox 33"/>
          <p:cNvSpPr txBox="1"/>
          <p:nvPr/>
        </p:nvSpPr>
        <p:spPr>
          <a:xfrm>
            <a:off x="3143030" y="3017520"/>
            <a:ext cx="963137"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249</a:t>
            </a:r>
          </a:p>
        </p:txBody>
      </p:sp>
      <p:sp>
        <p:nvSpPr>
          <p:cNvPr id="35" name="TextBox 34"/>
          <p:cNvSpPr txBox="1"/>
          <p:nvPr/>
        </p:nvSpPr>
        <p:spPr>
          <a:xfrm>
            <a:off x="4197608" y="3017520"/>
            <a:ext cx="1701341"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0.0791</a:t>
            </a:r>
          </a:p>
        </p:txBody>
      </p:sp>
      <p:sp>
        <p:nvSpPr>
          <p:cNvPr id="36" name="TextBox 35"/>
          <p:cNvSpPr txBox="1"/>
          <p:nvPr/>
        </p:nvSpPr>
        <p:spPr>
          <a:xfrm>
            <a:off x="5990389" y="3017520"/>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0.10</a:t>
            </a:r>
          </a:p>
        </p:txBody>
      </p:sp>
      <p:sp>
        <p:nvSpPr>
          <p:cNvPr id="37" name="TextBox 36"/>
          <p:cNvSpPr txBox="1"/>
          <p:nvPr/>
        </p:nvSpPr>
        <p:spPr>
          <a:xfrm>
            <a:off x="7361340" y="3017520"/>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0.795</a:t>
            </a:r>
          </a:p>
        </p:txBody>
      </p:sp>
      <p:sp>
        <p:nvSpPr>
          <p:cNvPr id="38" name="TextBox 37"/>
          <p:cNvSpPr txBox="1"/>
          <p:nvPr/>
        </p:nvSpPr>
        <p:spPr>
          <a:xfrm>
            <a:off x="8732291" y="3017520"/>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0.1126</a:t>
            </a:r>
          </a:p>
        </p:txBody>
      </p:sp>
      <p:sp>
        <p:nvSpPr>
          <p:cNvPr id="39" name="TextBox 38"/>
          <p:cNvSpPr txBox="1"/>
          <p:nvPr/>
        </p:nvSpPr>
        <p:spPr>
          <a:xfrm>
            <a:off x="10103242" y="3017520"/>
            <a:ext cx="1174053"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0.799</a:t>
            </a:r>
          </a:p>
        </p:txBody>
      </p:sp>
      <p:sp>
        <p:nvSpPr>
          <p:cNvPr id="40" name="Rectangle 39"/>
          <p:cNvSpPr/>
          <p:nvPr/>
        </p:nvSpPr>
        <p:spPr>
          <a:xfrm>
            <a:off x="822960" y="3328415"/>
            <a:ext cx="10545775"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3346703"/>
            <a:ext cx="2228630" cy="329184"/>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2026</a:t>
            </a:r>
          </a:p>
        </p:txBody>
      </p:sp>
      <p:sp>
        <p:nvSpPr>
          <p:cNvPr id="42" name="TextBox 41"/>
          <p:cNvSpPr txBox="1"/>
          <p:nvPr/>
        </p:nvSpPr>
        <p:spPr>
          <a:xfrm>
            <a:off x="3143030" y="3346703"/>
            <a:ext cx="963137"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167</a:t>
            </a:r>
          </a:p>
        </p:txBody>
      </p:sp>
      <p:sp>
        <p:nvSpPr>
          <p:cNvPr id="43" name="TextBox 42"/>
          <p:cNvSpPr txBox="1"/>
          <p:nvPr/>
        </p:nvSpPr>
        <p:spPr>
          <a:xfrm>
            <a:off x="4197608" y="3346703"/>
            <a:ext cx="1701341"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0.0901</a:t>
            </a:r>
          </a:p>
        </p:txBody>
      </p:sp>
      <p:sp>
        <p:nvSpPr>
          <p:cNvPr id="44" name="TextBox 43"/>
          <p:cNvSpPr txBox="1"/>
          <p:nvPr/>
        </p:nvSpPr>
        <p:spPr>
          <a:xfrm>
            <a:off x="5990389" y="3346703"/>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0.10</a:t>
            </a:r>
          </a:p>
        </p:txBody>
      </p:sp>
      <p:sp>
        <p:nvSpPr>
          <p:cNvPr id="45" name="TextBox 44"/>
          <p:cNvSpPr txBox="1"/>
          <p:nvPr/>
        </p:nvSpPr>
        <p:spPr>
          <a:xfrm>
            <a:off x="7361340" y="3346703"/>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0.630</a:t>
            </a:r>
          </a:p>
        </p:txBody>
      </p:sp>
      <p:sp>
        <p:nvSpPr>
          <p:cNvPr id="46" name="TextBox 45"/>
          <p:cNvSpPr txBox="1"/>
          <p:nvPr/>
        </p:nvSpPr>
        <p:spPr>
          <a:xfrm>
            <a:off x="8732291" y="3346703"/>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0.0729</a:t>
            </a:r>
          </a:p>
        </p:txBody>
      </p:sp>
      <p:sp>
        <p:nvSpPr>
          <p:cNvPr id="47" name="TextBox 46"/>
          <p:cNvSpPr txBox="1"/>
          <p:nvPr/>
        </p:nvSpPr>
        <p:spPr>
          <a:xfrm>
            <a:off x="10103242" y="3346703"/>
            <a:ext cx="1174053"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0.784</a:t>
            </a:r>
          </a:p>
        </p:txBody>
      </p:sp>
      <p:sp>
        <p:nvSpPr>
          <p:cNvPr id="48" name="Rectangle 47"/>
          <p:cNvSpPr/>
          <p:nvPr/>
        </p:nvSpPr>
        <p:spPr>
          <a:xfrm>
            <a:off x="822960" y="3657599"/>
            <a:ext cx="10545775"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 y="3675887"/>
            <a:ext cx="2228630" cy="329184"/>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Since 2024-12-30 (research/G sample)</a:t>
            </a:r>
          </a:p>
        </p:txBody>
      </p:sp>
      <p:sp>
        <p:nvSpPr>
          <p:cNvPr id="50" name="TextBox 49"/>
          <p:cNvSpPr txBox="1"/>
          <p:nvPr/>
        </p:nvSpPr>
        <p:spPr>
          <a:xfrm>
            <a:off x="3143030" y="3675887"/>
            <a:ext cx="963137"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418</a:t>
            </a:r>
          </a:p>
        </p:txBody>
      </p:sp>
      <p:sp>
        <p:nvSpPr>
          <p:cNvPr id="51" name="TextBox 50"/>
          <p:cNvSpPr txBox="1"/>
          <p:nvPr/>
        </p:nvSpPr>
        <p:spPr>
          <a:xfrm>
            <a:off x="4197608" y="3675887"/>
            <a:ext cx="1701341"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0.0831</a:t>
            </a:r>
          </a:p>
        </p:txBody>
      </p:sp>
      <p:sp>
        <p:nvSpPr>
          <p:cNvPr id="52" name="TextBox 51"/>
          <p:cNvSpPr txBox="1"/>
          <p:nvPr/>
        </p:nvSpPr>
        <p:spPr>
          <a:xfrm>
            <a:off x="5990389" y="3675887"/>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0.10</a:t>
            </a:r>
          </a:p>
        </p:txBody>
      </p:sp>
      <p:sp>
        <p:nvSpPr>
          <p:cNvPr id="53" name="TextBox 52"/>
          <p:cNvSpPr txBox="1"/>
          <p:nvPr/>
        </p:nvSpPr>
        <p:spPr>
          <a:xfrm>
            <a:off x="7361340" y="3675887"/>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0.730</a:t>
            </a:r>
          </a:p>
        </p:txBody>
      </p:sp>
      <p:sp>
        <p:nvSpPr>
          <p:cNvPr id="54" name="TextBox 53"/>
          <p:cNvSpPr txBox="1"/>
          <p:nvPr/>
        </p:nvSpPr>
        <p:spPr>
          <a:xfrm>
            <a:off x="8732291" y="3675887"/>
            <a:ext cx="1279510"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0.0962</a:t>
            </a:r>
          </a:p>
        </p:txBody>
      </p:sp>
      <p:sp>
        <p:nvSpPr>
          <p:cNvPr id="55" name="TextBox 54"/>
          <p:cNvSpPr txBox="1"/>
          <p:nvPr/>
        </p:nvSpPr>
        <p:spPr>
          <a:xfrm>
            <a:off x="10103242" y="3675887"/>
            <a:ext cx="1174053" cy="329184"/>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0.792</a:t>
            </a:r>
          </a:p>
        </p:txBody>
      </p:sp>
      <p:sp>
        <p:nvSpPr>
          <p:cNvPr id="56" name="Rounded Rectangle 55"/>
          <p:cNvSpPr/>
          <p:nvPr/>
        </p:nvSpPr>
        <p:spPr>
          <a:xfrm>
            <a:off x="822960" y="4206240"/>
            <a:ext cx="5061972" cy="1417320"/>
          </a:xfrm>
          <a:prstGeom prst="roundRect">
            <a:avLst>
              <a:gd name="adj" fmla="val 2903"/>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4128" y="4334256"/>
            <a:ext cx="4659636" cy="1188720"/>
          </a:xfrm>
          <a:prstGeom prst="rect">
            <a:avLst/>
          </a:prstGeom>
          <a:noFill/>
        </p:spPr>
        <p:txBody>
          <a:bodyPr wrap="square" lIns="0" rIns="0" tIns="0" bIns="0" anchor="t">
            <a:spAutoFit/>
          </a:bodyPr>
          <a:lstStyle/>
          <a:p>
            <a:pPr algn="l">
              <a:lnSpc>
                <a:spcPct val="116000"/>
              </a:lnSpc>
              <a:spcBef>
                <a:spcPts val="0"/>
              </a:spcBef>
              <a:spcAft>
                <a:spcPts val="500"/>
              </a:spcAft>
            </a:pPr>
            <a:r>
              <a:rPr sz="900" b="0" i="0">
                <a:solidFill>
                  <a:srgbClr val="101010"/>
                </a:solidFill>
                <a:latin typeface="Segoe UI Semibold"/>
              </a:rPr>
              <a:t>State after the back-fill</a:t>
            </a:r>
          </a:p>
          <a:p>
            <a:pPr algn="l">
              <a:lnSpc>
                <a:spcPct val="128000"/>
              </a:lnSpc>
              <a:spcBef>
                <a:spcPts val="0"/>
              </a:spcBef>
              <a:spcAft>
                <a:spcPts val="500"/>
              </a:spcAft>
            </a:pPr>
            <a:r>
              <a:rPr sz="900" b="0" i="0">
                <a:solidFill>
                  <a:srgbClr val="2B373B"/>
                </a:solidFill>
                <a:latin typeface="Segoe UI"/>
              </a:rPr>
              <a:t>Online risk level beta = 0.1642 and coverage level alpha = 0.2180 after 618 sessions, window 250 scores, clip [0.35, 1.60], step 0.005.</a:t>
            </a:r>
          </a:p>
          <a:p>
            <a:pPr algn="l">
              <a:lnSpc>
                <a:spcPct val="128000"/>
              </a:lnSpc>
              <a:spcBef>
                <a:spcPts val="0"/>
              </a:spcBef>
              <a:spcAft>
                <a:spcPts val="400"/>
              </a:spcAft>
            </a:pPr>
            <a:r>
              <a:rPr sz="900" b="0" i="0">
                <a:solidFill>
                  <a:srgbClr val="626262"/>
                </a:solidFill>
                <a:latin typeface="Segoe UI"/>
              </a:rPr>
              <a:t>Because the realised payout ratio has run below beta*, the online level has drifted above it: today the online layer is a one-sided safety valve with no effect on the interval, which we report rather than dress up.</a:t>
            </a:r>
          </a:p>
        </p:txBody>
      </p:sp>
      <p:sp>
        <p:nvSpPr>
          <p:cNvPr id="58" name="Rounded Rectangle 57"/>
          <p:cNvSpPr/>
          <p:nvPr/>
        </p:nvSpPr>
        <p:spPr>
          <a:xfrm>
            <a:off x="6306763" y="4206240"/>
            <a:ext cx="5061972" cy="1417320"/>
          </a:xfrm>
          <a:prstGeom prst="roundRect">
            <a:avLst>
              <a:gd name="adj" fmla="val 2903"/>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07931" y="4334256"/>
            <a:ext cx="4659636" cy="1188720"/>
          </a:xfrm>
          <a:prstGeom prst="rect">
            <a:avLst/>
          </a:prstGeom>
          <a:noFill/>
        </p:spPr>
        <p:txBody>
          <a:bodyPr wrap="square" lIns="0" rIns="0" tIns="0" bIns="0" anchor="t">
            <a:spAutoFit/>
          </a:bodyPr>
          <a:lstStyle/>
          <a:p>
            <a:pPr algn="l">
              <a:lnSpc>
                <a:spcPct val="116000"/>
              </a:lnSpc>
              <a:spcBef>
                <a:spcPts val="0"/>
              </a:spcBef>
              <a:spcAft>
                <a:spcPts val="500"/>
              </a:spcAft>
            </a:pPr>
            <a:r>
              <a:rPr sz="900" b="0" i="0">
                <a:solidFill>
                  <a:srgbClr val="101010"/>
                </a:solidFill>
                <a:latin typeface="Segoe UI Semibold"/>
              </a:rPr>
              <a:t>Two limits of this evidence</a:t>
            </a:r>
          </a:p>
          <a:p>
            <a:pPr algn="l">
              <a:lnSpc>
                <a:spcPct val="128000"/>
              </a:lnSpc>
              <a:spcBef>
                <a:spcPts val="0"/>
              </a:spcBef>
              <a:spcAft>
                <a:spcPts val="500"/>
              </a:spcAft>
            </a:pPr>
            <a:r>
              <a:rPr sz="900" b="0" i="0">
                <a:solidFill>
                  <a:srgbClr val="2B373B"/>
                </a:solidFill>
                <a:latin typeface="Segoe UI"/>
              </a:rPr>
              <a:t>The whole calibration window lies inside the 2024 to 2026 regime, so it is not a test across regimes.</a:t>
            </a:r>
          </a:p>
          <a:p>
            <a:pPr algn="l">
              <a:lnSpc>
                <a:spcPct val="128000"/>
              </a:lnSpc>
              <a:spcBef>
                <a:spcPts val="0"/>
              </a:spcBef>
              <a:spcAft>
                <a:spcPts val="400"/>
              </a:spcAft>
            </a:pPr>
            <a:r>
              <a:rPr sz="900" b="0" i="0">
                <a:solidFill>
                  <a:srgbClr val="626262"/>
                </a:solidFill>
                <a:latin typeface="Segoe UI"/>
              </a:rPr>
              <a:t>The coverage track — controlling how often the close leaves the interval — is kept only as the logged counterfactual: most breaches are partial, and the break-even inside probability is 75.7 %, not 83 %.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Backup: the regime model and its negative results</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A twelve-coefficient logistic regression that can only shrink the position. Two 2026 tabular foundation models were run under the same protocol and did not beat it where anything can be measured.</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Repo: [R9] docs/regime_model_report.md and research/H_tabular_ml_small_data.md, 21 configurations; README.md 'What was trained on history'. Data: scripts/history_data.py.</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  ·  Appendix</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10</a:t>
            </a:r>
          </a:p>
        </p:txBody>
      </p:sp>
      <p:sp>
        <p:nvSpPr>
          <p:cNvPr id="9" name="Rectangle 8"/>
          <p:cNvSpPr/>
          <p:nvPr/>
        </p:nvSpPr>
        <p:spPr>
          <a:xfrm>
            <a:off x="822960" y="1920240"/>
            <a:ext cx="3307994"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48256"/>
            <a:ext cx="3307994"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What it is</a:t>
            </a:r>
          </a:p>
        </p:txBody>
      </p:sp>
      <p:sp>
        <p:nvSpPr>
          <p:cNvPr id="11" name="TextBox 10"/>
          <p:cNvSpPr txBox="1"/>
          <p:nvPr/>
        </p:nvSpPr>
        <p:spPr>
          <a:xfrm>
            <a:off x="822960" y="2340864"/>
            <a:ext cx="3307994" cy="1371600"/>
          </a:xfrm>
          <a:prstGeom prst="rect">
            <a:avLst/>
          </a:prstGeom>
          <a:noFill/>
        </p:spPr>
        <p:txBody>
          <a:bodyPr wrap="square" lIns="0" rIns="0" tIns="0" bIns="0" anchor="t">
            <a:spAutoFit/>
          </a:bodyPr>
          <a:lstStyle/>
          <a:p>
            <a:pPr algn="l">
              <a:lnSpc>
                <a:spcPct val="130000"/>
              </a:lnSpc>
              <a:spcBef>
                <a:spcPts val="0"/>
              </a:spcBef>
              <a:spcAft>
                <a:spcPts val="0"/>
              </a:spcAft>
            </a:pPr>
            <a:r>
              <a:rPr sz="900" b="0" i="0">
                <a:solidFill>
                  <a:srgbClr val="2B373B"/>
                </a:solidFill>
                <a:latin typeface="Segoe UI"/>
              </a:rPr>
              <a:t>9,230 sessions assembled from Cboe (S&amp;P 500 since 1975, VIX since 1990) and Alpaca IEX (SPY open and close from 2020-07, 30-minute bars from 2024-01). A standardised logistic regression on 1,533 SPY sessions maps regime features known at the morning entry to the probability that the session closes inside the short strikes.</a:t>
            </a:r>
          </a:p>
        </p:txBody>
      </p:sp>
      <p:sp>
        <p:nvSpPr>
          <p:cNvPr id="12" name="Rectangle 11"/>
          <p:cNvSpPr/>
          <p:nvPr/>
        </p:nvSpPr>
        <p:spPr>
          <a:xfrm>
            <a:off x="4441850" y="1920240"/>
            <a:ext cx="3307994"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1850" y="2048256"/>
            <a:ext cx="3307994"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What it may do</a:t>
            </a:r>
          </a:p>
        </p:txBody>
      </p:sp>
      <p:sp>
        <p:nvSpPr>
          <p:cNvPr id="14" name="TextBox 13"/>
          <p:cNvSpPr txBox="1"/>
          <p:nvPr/>
        </p:nvSpPr>
        <p:spPr>
          <a:xfrm>
            <a:off x="4441850" y="2340864"/>
            <a:ext cx="3307994" cy="1371600"/>
          </a:xfrm>
          <a:prstGeom prst="rect">
            <a:avLst/>
          </a:prstGeom>
          <a:noFill/>
        </p:spPr>
        <p:txBody>
          <a:bodyPr wrap="square" lIns="0" rIns="0" tIns="0" bIns="0" anchor="t">
            <a:spAutoFit/>
          </a:bodyPr>
          <a:lstStyle/>
          <a:p>
            <a:pPr algn="l">
              <a:lnSpc>
                <a:spcPct val="130000"/>
              </a:lnSpc>
              <a:spcBef>
                <a:spcPts val="0"/>
              </a:spcBef>
              <a:spcAft>
                <a:spcPts val="0"/>
              </a:spcAft>
            </a:pPr>
            <a:r>
              <a:rPr sz="900" b="0" i="0">
                <a:solidFill>
                  <a:srgbClr val="2B373B"/>
                </a:solidFill>
                <a:latin typeface="Segoe UI"/>
              </a:rPr>
              <a:t>Set the size multiplier to 1, 0.5 or 0 — full at or above the historical tercile threshold, half below it, zero in the bottom decile. It can never increase a position.</a:t>
            </a:r>
          </a:p>
        </p:txBody>
      </p:sp>
      <p:sp>
        <p:nvSpPr>
          <p:cNvPr id="15" name="Rectangle 14"/>
          <p:cNvSpPr/>
          <p:nvPr/>
        </p:nvSpPr>
        <p:spPr>
          <a:xfrm>
            <a:off x="8060740" y="1920240"/>
            <a:ext cx="3307994"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60740" y="2048256"/>
            <a:ext cx="3307994"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What it cannot do</a:t>
            </a:r>
          </a:p>
        </p:txBody>
      </p:sp>
      <p:sp>
        <p:nvSpPr>
          <p:cNvPr id="17" name="TextBox 16"/>
          <p:cNvSpPr txBox="1"/>
          <p:nvPr/>
        </p:nvSpPr>
        <p:spPr>
          <a:xfrm>
            <a:off x="8060740" y="2340864"/>
            <a:ext cx="3307994" cy="1371600"/>
          </a:xfrm>
          <a:prstGeom prst="rect">
            <a:avLst/>
          </a:prstGeom>
          <a:noFill/>
        </p:spPr>
        <p:txBody>
          <a:bodyPr wrap="square" lIns="0" rIns="0" tIns="0" bIns="0" anchor="t">
            <a:spAutoFit/>
          </a:bodyPr>
          <a:lstStyle/>
          <a:p>
            <a:pPr algn="l">
              <a:lnSpc>
                <a:spcPct val="130000"/>
              </a:lnSpc>
              <a:spcBef>
                <a:spcPts val="0"/>
              </a:spcBef>
              <a:spcAft>
                <a:spcPts val="0"/>
              </a:spcAft>
            </a:pPr>
            <a:r>
              <a:rPr sz="900" b="0" i="0">
                <a:solidFill>
                  <a:srgbClr val="2B373B"/>
                </a:solidFill>
                <a:latin typeface="Segoe UI"/>
              </a:rPr>
              <a:t>On the exact 10:30-to-close horizon the logit is worse than a constant, with two year-blocks and no inference possible. On the close-to-close horizon, with fifteen blocks, it is the best single model. Both results are reported.</a:t>
            </a:r>
          </a:p>
        </p:txBody>
      </p:sp>
      <p:sp>
        <p:nvSpPr>
          <p:cNvPr id="18" name="Rectangle 17"/>
          <p:cNvSpPr/>
          <p:nvPr/>
        </p:nvSpPr>
        <p:spPr>
          <a:xfrm>
            <a:off x="822960" y="3858768"/>
            <a:ext cx="3307994"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86784"/>
            <a:ext cx="3307994"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What lost</a:t>
            </a:r>
          </a:p>
        </p:txBody>
      </p:sp>
      <p:sp>
        <p:nvSpPr>
          <p:cNvPr id="20" name="TextBox 19"/>
          <p:cNvSpPr txBox="1"/>
          <p:nvPr/>
        </p:nvSpPr>
        <p:spPr>
          <a:xfrm>
            <a:off x="822960" y="4279392"/>
            <a:ext cx="3307994" cy="1371600"/>
          </a:xfrm>
          <a:prstGeom prst="rect">
            <a:avLst/>
          </a:prstGeom>
          <a:noFill/>
        </p:spPr>
        <p:txBody>
          <a:bodyPr wrap="square" lIns="0" rIns="0" tIns="0" bIns="0" anchor="t">
            <a:spAutoFit/>
          </a:bodyPr>
          <a:lstStyle/>
          <a:p>
            <a:pPr algn="l">
              <a:lnSpc>
                <a:spcPct val="130000"/>
              </a:lnSpc>
              <a:spcBef>
                <a:spcPts val="0"/>
              </a:spcBef>
              <a:spcAft>
                <a:spcPts val="0"/>
              </a:spcAft>
            </a:pPr>
            <a:r>
              <a:rPr sz="900" b="0" i="0">
                <a:solidFill>
                  <a:srgbClr val="2B373B"/>
                </a:solidFill>
                <a:latin typeface="Segoe UI"/>
              </a:rPr>
              <a:t>XGBoost, LightGBM, a logit and XGBoost average, TabPFN v2 and TabICL v2, run under the identical expanding-window protocol: seven families across three horizons, 21 configurations. The foundation models win only where nothing can be measured and lose, with bootstrap intervals excluding zero, where it can.</a:t>
            </a:r>
          </a:p>
        </p:txBody>
      </p:sp>
      <p:sp>
        <p:nvSpPr>
          <p:cNvPr id="21" name="Rectangle 20"/>
          <p:cNvSpPr/>
          <p:nvPr/>
        </p:nvSpPr>
        <p:spPr>
          <a:xfrm>
            <a:off x="4441850" y="3858768"/>
            <a:ext cx="3307994"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1850" y="3986784"/>
            <a:ext cx="3307994"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What the back-test cannot settle</a:t>
            </a:r>
          </a:p>
        </p:txBody>
      </p:sp>
      <p:sp>
        <p:nvSpPr>
          <p:cNvPr id="23" name="TextBox 22"/>
          <p:cNvSpPr txBox="1"/>
          <p:nvPr/>
        </p:nvSpPr>
        <p:spPr>
          <a:xfrm>
            <a:off x="4441850" y="4279392"/>
            <a:ext cx="3307994" cy="1371600"/>
          </a:xfrm>
          <a:prstGeom prst="rect">
            <a:avLst/>
          </a:prstGeom>
          <a:noFill/>
        </p:spPr>
        <p:txBody>
          <a:bodyPr wrap="square" lIns="0" rIns="0" tIns="0" bIns="0" anchor="t">
            <a:spAutoFit/>
          </a:bodyPr>
          <a:lstStyle/>
          <a:p>
            <a:pPr algn="l">
              <a:lnSpc>
                <a:spcPct val="130000"/>
              </a:lnSpc>
              <a:spcBef>
                <a:spcPts val="0"/>
              </a:spcBef>
              <a:spcAft>
                <a:spcPts val="0"/>
              </a:spcAft>
            </a:pPr>
            <a:r>
              <a:rPr sz="900" b="0" i="0">
                <a:solidFill>
                  <a:srgbClr val="2B373B"/>
                </a:solidFill>
                <a:latin typeface="Segoe UI"/>
              </a:rPr>
              <a:t>It assumes a constant credit of 17 % of the wing, which invalidates any conclusion that changes the interval width. The live agent reads the credit off the quote instead.</a:t>
            </a:r>
          </a:p>
        </p:txBody>
      </p:sp>
      <p:sp>
        <p:nvSpPr>
          <p:cNvPr id="24" name="Rectangle 23"/>
          <p:cNvSpPr/>
          <p:nvPr/>
        </p:nvSpPr>
        <p:spPr>
          <a:xfrm>
            <a:off x="8060740" y="3858768"/>
            <a:ext cx="3307994"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60740" y="3986784"/>
            <a:ext cx="3307994" cy="237744"/>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The null it supplies</a:t>
            </a:r>
          </a:p>
        </p:txBody>
      </p:sp>
      <p:sp>
        <p:nvSpPr>
          <p:cNvPr id="26" name="TextBox 25"/>
          <p:cNvSpPr txBox="1"/>
          <p:nvPr/>
        </p:nvSpPr>
        <p:spPr>
          <a:xfrm>
            <a:off x="8060740" y="4279392"/>
            <a:ext cx="3307994" cy="1371600"/>
          </a:xfrm>
          <a:prstGeom prst="rect">
            <a:avLst/>
          </a:prstGeom>
          <a:noFill/>
        </p:spPr>
        <p:txBody>
          <a:bodyPr wrap="square" lIns="0" rIns="0" tIns="0" bIns="0" anchor="t">
            <a:spAutoFit/>
          </a:bodyPr>
          <a:lstStyle/>
          <a:p>
            <a:pPr algn="l">
              <a:lnSpc>
                <a:spcPct val="130000"/>
              </a:lnSpc>
              <a:spcBef>
                <a:spcPts val="0"/>
              </a:spcBef>
              <a:spcAft>
                <a:spcPts val="0"/>
              </a:spcAft>
            </a:pPr>
            <a:r>
              <a:rPr sz="900" b="0" i="0">
                <a:solidFill>
                  <a:srgbClr val="2B373B"/>
                </a:solidFill>
                <a:latin typeface="Segoe UI"/>
              </a:rPr>
              <a:t>The same history gives the random-entry Monte Carlo null against which campaign profit and loss is reported as a percentile rather than as alpha: median +259 dollars, 5th percentile −503 dollars over 2.5 sessions at two contracts per session.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Backup: what three sessions can and cannot show</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Two test supermartingales are computed from the ledger and reported, never used to halt. The ceiling on the second one is arithmetic, and it is the reason no Sharpe ratio appears anywhere.</a:t>
            </a:r>
          </a:p>
        </p:txBody>
      </p:sp>
      <p:sp>
        <p:nvSpPr>
          <p:cNvPr id="5" name="TextBox 4"/>
          <p:cNvSpPr txBox="1"/>
          <p:nvPr/>
        </p:nvSpPr>
        <p:spPr>
          <a:xfrm>
            <a:off x="822960" y="5888736"/>
            <a:ext cx="10545775" cy="384048"/>
          </a:xfrm>
          <a:prstGeom prst="rect">
            <a:avLst/>
          </a:prstGeom>
          <a:noFill/>
        </p:spPr>
        <p:txBody>
          <a:bodyPr wrap="square" lIns="0" rIns="0" tIns="0" bIns="0" anchor="t">
            <a:spAutoFit/>
          </a:bodyPr>
          <a:lstStyle/>
          <a:p>
            <a:pPr algn="l">
              <a:lnSpc>
                <a:spcPct val="120000"/>
              </a:lnSpc>
              <a:spcBef>
                <a:spcPts val="0"/>
              </a:spcBef>
              <a:spcAft>
                <a:spcPts val="0"/>
              </a:spcAft>
            </a:pPr>
            <a:r>
              <a:rPr sz="800" b="0" i="0">
                <a:solidFill>
                  <a:srgbClr val="979797"/>
                </a:solidFill>
                <a:latin typeface="Segoe UI"/>
              </a:rPr>
              <a:t>Repo: [R3] docs/evidence.md, regenerated by scripts/evidence.py; [R1] docs/THEORY.md section 9. [15] Waudby-Smith &amp; Ramdas 2023; Ramdas, Grunwald, Vovk &amp; Shafer 2023. Bets pre-registered at lambda = 1.0 and eta = 1.0.</a:t>
            </a:r>
          </a:p>
        </p:txBody>
      </p:sp>
      <p:sp>
        <p:nvSpPr>
          <p:cNvPr id="6" name="Rectangle 5"/>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  ·  Appendix</a:t>
            </a:r>
          </a:p>
        </p:txBody>
      </p:sp>
      <p:sp>
        <p:nvSpPr>
          <p:cNvPr id="8" name="TextBox 7"/>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11</a:t>
            </a:r>
          </a:p>
        </p:txBody>
      </p:sp>
      <p:sp>
        <p:nvSpPr>
          <p:cNvPr id="9" name="TextBox 8"/>
          <p:cNvSpPr txBox="1"/>
          <p:nvPr/>
        </p:nvSpPr>
        <p:spPr>
          <a:xfrm>
            <a:off x="822960" y="1901952"/>
            <a:ext cx="4851056" cy="274320"/>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Risk process — evidence against the certificate</a:t>
            </a:r>
          </a:p>
        </p:txBody>
      </p:sp>
      <p:sp>
        <p:nvSpPr>
          <p:cNvPr id="10" name="TextBox 9"/>
          <p:cNvSpPr txBox="1"/>
          <p:nvPr/>
        </p:nvSpPr>
        <p:spPr>
          <a:xfrm>
            <a:off x="822960" y="2194560"/>
            <a:ext cx="4851056" cy="54864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626262"/>
                </a:solidFill>
                <a:latin typeface="Segoe UI"/>
              </a:rPr>
              <a:t>Null: the expected payout ratio given the past is at most beta* = 0.10. A p-value below 0.05 would reject the certificate. It does not.</a:t>
            </a:r>
          </a:p>
        </p:txBody>
      </p:sp>
      <p:sp>
        <p:nvSpPr>
          <p:cNvPr id="11" name="TextBox 10"/>
          <p:cNvSpPr txBox="1"/>
          <p:nvPr/>
        </p:nvSpPr>
        <p:spPr>
          <a:xfrm>
            <a:off x="822960" y="2834640"/>
            <a:ext cx="1266855" cy="292608"/>
          </a:xfrm>
          <a:prstGeom prst="rect">
            <a:avLst/>
          </a:prstGeom>
          <a:noFill/>
        </p:spPr>
        <p:txBody>
          <a:bodyPr wrap="square" lIns="0" rIns="0" tIns="0" bIns="0" anchor="b">
            <a:spAutoFit/>
          </a:bodyPr>
          <a:lstStyle/>
          <a:p>
            <a:pPr algn="l">
              <a:lnSpc>
                <a:spcPct val="116000"/>
              </a:lnSpc>
              <a:spcBef>
                <a:spcPts val="0"/>
              </a:spcBef>
              <a:spcAft>
                <a:spcPts val="0"/>
              </a:spcAft>
            </a:pPr>
          </a:p>
        </p:txBody>
      </p:sp>
      <p:sp>
        <p:nvSpPr>
          <p:cNvPr id="12" name="TextBox 11"/>
          <p:cNvSpPr txBox="1"/>
          <p:nvPr/>
        </p:nvSpPr>
        <p:spPr>
          <a:xfrm>
            <a:off x="2181255" y="2834640"/>
            <a:ext cx="878771"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sessions</a:t>
            </a:r>
          </a:p>
        </p:txBody>
      </p:sp>
      <p:sp>
        <p:nvSpPr>
          <p:cNvPr id="13" name="TextBox 12"/>
          <p:cNvSpPr txBox="1"/>
          <p:nvPr/>
        </p:nvSpPr>
        <p:spPr>
          <a:xfrm>
            <a:off x="3151467" y="2834640"/>
            <a:ext cx="1169834"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mean payout ratio</a:t>
            </a:r>
          </a:p>
        </p:txBody>
      </p:sp>
      <p:sp>
        <p:nvSpPr>
          <p:cNvPr id="14" name="TextBox 13"/>
          <p:cNvSpPr txBox="1"/>
          <p:nvPr/>
        </p:nvSpPr>
        <p:spPr>
          <a:xfrm>
            <a:off x="4412741" y="2834640"/>
            <a:ext cx="1169834"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anytime p</a:t>
            </a:r>
          </a:p>
        </p:txBody>
      </p:sp>
      <p:sp>
        <p:nvSpPr>
          <p:cNvPr id="15" name="Rectangle 14"/>
          <p:cNvSpPr/>
          <p:nvPr/>
        </p:nvSpPr>
        <p:spPr>
          <a:xfrm>
            <a:off x="822960" y="3154680"/>
            <a:ext cx="4851056"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236976"/>
            <a:ext cx="1266855" cy="29260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101010"/>
                </a:solidFill>
                <a:latin typeface="Segoe UI Semibold"/>
              </a:rPr>
              <a:t>All</a:t>
            </a:r>
          </a:p>
        </p:txBody>
      </p:sp>
      <p:sp>
        <p:nvSpPr>
          <p:cNvPr id="17" name="TextBox 16"/>
          <p:cNvSpPr txBox="1"/>
          <p:nvPr/>
        </p:nvSpPr>
        <p:spPr>
          <a:xfrm>
            <a:off x="2181255" y="3236976"/>
            <a:ext cx="878771"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619</a:t>
            </a:r>
          </a:p>
        </p:txBody>
      </p:sp>
      <p:sp>
        <p:nvSpPr>
          <p:cNvPr id="18" name="TextBox 17"/>
          <p:cNvSpPr txBox="1"/>
          <p:nvPr/>
        </p:nvSpPr>
        <p:spPr>
          <a:xfrm>
            <a:off x="3151467" y="3236976"/>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101010"/>
                </a:solidFill>
                <a:latin typeface="Segoe UI Semibold"/>
              </a:rPr>
              <a:t>0.079</a:t>
            </a:r>
          </a:p>
        </p:txBody>
      </p:sp>
      <p:sp>
        <p:nvSpPr>
          <p:cNvPr id="19" name="TextBox 18"/>
          <p:cNvSpPr txBox="1"/>
          <p:nvPr/>
        </p:nvSpPr>
        <p:spPr>
          <a:xfrm>
            <a:off x="4412741" y="3236976"/>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101010"/>
                </a:solidFill>
                <a:latin typeface="Segoe UI Semibold"/>
              </a:rPr>
              <a:t>0.376</a:t>
            </a:r>
          </a:p>
        </p:txBody>
      </p:sp>
      <p:sp>
        <p:nvSpPr>
          <p:cNvPr id="20" name="Rectangle 19"/>
          <p:cNvSpPr/>
          <p:nvPr/>
        </p:nvSpPr>
        <p:spPr>
          <a:xfrm>
            <a:off x="822960" y="3511296"/>
            <a:ext cx="4851056"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529584"/>
            <a:ext cx="1266855" cy="29260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2024</a:t>
            </a:r>
          </a:p>
        </p:txBody>
      </p:sp>
      <p:sp>
        <p:nvSpPr>
          <p:cNvPr id="22" name="TextBox 21"/>
          <p:cNvSpPr txBox="1"/>
          <p:nvPr/>
        </p:nvSpPr>
        <p:spPr>
          <a:xfrm>
            <a:off x="2181255" y="3529584"/>
            <a:ext cx="878771"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202</a:t>
            </a:r>
          </a:p>
        </p:txBody>
      </p:sp>
      <p:sp>
        <p:nvSpPr>
          <p:cNvPr id="23" name="TextBox 22"/>
          <p:cNvSpPr txBox="1"/>
          <p:nvPr/>
        </p:nvSpPr>
        <p:spPr>
          <a:xfrm>
            <a:off x="3151467" y="3529584"/>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0.070</a:t>
            </a:r>
          </a:p>
        </p:txBody>
      </p:sp>
      <p:sp>
        <p:nvSpPr>
          <p:cNvPr id="24" name="TextBox 23"/>
          <p:cNvSpPr txBox="1"/>
          <p:nvPr/>
        </p:nvSpPr>
        <p:spPr>
          <a:xfrm>
            <a:off x="4412741" y="3529584"/>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0.376</a:t>
            </a:r>
          </a:p>
        </p:txBody>
      </p:sp>
      <p:sp>
        <p:nvSpPr>
          <p:cNvPr id="25" name="Rectangle 24"/>
          <p:cNvSpPr/>
          <p:nvPr/>
        </p:nvSpPr>
        <p:spPr>
          <a:xfrm>
            <a:off x="822960" y="3803904"/>
            <a:ext cx="4851056"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822191"/>
            <a:ext cx="1266855" cy="29260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2025</a:t>
            </a:r>
          </a:p>
        </p:txBody>
      </p:sp>
      <p:sp>
        <p:nvSpPr>
          <p:cNvPr id="27" name="TextBox 26"/>
          <p:cNvSpPr txBox="1"/>
          <p:nvPr/>
        </p:nvSpPr>
        <p:spPr>
          <a:xfrm>
            <a:off x="2181255" y="3822191"/>
            <a:ext cx="878771"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249</a:t>
            </a:r>
          </a:p>
        </p:txBody>
      </p:sp>
      <p:sp>
        <p:nvSpPr>
          <p:cNvPr id="28" name="TextBox 27"/>
          <p:cNvSpPr txBox="1"/>
          <p:nvPr/>
        </p:nvSpPr>
        <p:spPr>
          <a:xfrm>
            <a:off x="3151467" y="3822191"/>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0.079</a:t>
            </a:r>
          </a:p>
        </p:txBody>
      </p:sp>
      <p:sp>
        <p:nvSpPr>
          <p:cNvPr id="29" name="TextBox 28"/>
          <p:cNvSpPr txBox="1"/>
          <p:nvPr/>
        </p:nvSpPr>
        <p:spPr>
          <a:xfrm>
            <a:off x="4412741" y="3822191"/>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0.143</a:t>
            </a:r>
          </a:p>
        </p:txBody>
      </p:sp>
      <p:sp>
        <p:nvSpPr>
          <p:cNvPr id="30" name="Rectangle 29"/>
          <p:cNvSpPr/>
          <p:nvPr/>
        </p:nvSpPr>
        <p:spPr>
          <a:xfrm>
            <a:off x="822960" y="4096512"/>
            <a:ext cx="4851056"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114800"/>
            <a:ext cx="1266855" cy="29260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2026</a:t>
            </a:r>
          </a:p>
        </p:txBody>
      </p:sp>
      <p:sp>
        <p:nvSpPr>
          <p:cNvPr id="32" name="TextBox 31"/>
          <p:cNvSpPr txBox="1"/>
          <p:nvPr/>
        </p:nvSpPr>
        <p:spPr>
          <a:xfrm>
            <a:off x="2181255" y="4114800"/>
            <a:ext cx="878771"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168</a:t>
            </a:r>
          </a:p>
        </p:txBody>
      </p:sp>
      <p:sp>
        <p:nvSpPr>
          <p:cNvPr id="33" name="TextBox 32"/>
          <p:cNvSpPr txBox="1"/>
          <p:nvPr/>
        </p:nvSpPr>
        <p:spPr>
          <a:xfrm>
            <a:off x="3151467" y="4114800"/>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0.090</a:t>
            </a:r>
          </a:p>
        </p:txBody>
      </p:sp>
      <p:sp>
        <p:nvSpPr>
          <p:cNvPr id="34" name="TextBox 33"/>
          <p:cNvSpPr txBox="1"/>
          <p:nvPr/>
        </p:nvSpPr>
        <p:spPr>
          <a:xfrm>
            <a:off x="4412741" y="4114800"/>
            <a:ext cx="1169834"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1.000</a:t>
            </a:r>
          </a:p>
        </p:txBody>
      </p:sp>
      <p:sp>
        <p:nvSpPr>
          <p:cNvPr id="35" name="TextBox 34"/>
          <p:cNvSpPr txBox="1"/>
          <p:nvPr/>
        </p:nvSpPr>
        <p:spPr>
          <a:xfrm>
            <a:off x="822960" y="4617720"/>
            <a:ext cx="4851056" cy="457200"/>
          </a:xfrm>
          <a:prstGeom prst="rect">
            <a:avLst/>
          </a:prstGeom>
          <a:noFill/>
        </p:spPr>
        <p:txBody>
          <a:bodyPr wrap="square" lIns="0" rIns="0" tIns="0" bIns="0" anchor="t">
            <a:spAutoFit/>
          </a:bodyPr>
          <a:lstStyle/>
          <a:p>
            <a:pPr algn="l">
              <a:lnSpc>
                <a:spcPct val="128000"/>
              </a:lnSpc>
              <a:spcBef>
                <a:spcPts val="0"/>
              </a:spcBef>
              <a:spcAft>
                <a:spcPts val="0"/>
              </a:spcAft>
            </a:pPr>
            <a:r>
              <a:rPr sz="800" b="0" i="0">
                <a:solidFill>
                  <a:srgbClr val="979797"/>
                </a:solidFill>
                <a:latin typeface="Segoe UI"/>
              </a:rPr>
              <a:t>Running maximum of the wealth process 2.659 over 619 sessions. A conformal test martingale on clean data has been observed to fire in 135 of 135 runs at the 5 % level, so this process is reported and never used to halt.</a:t>
            </a:r>
          </a:p>
        </p:txBody>
      </p:sp>
      <p:sp>
        <p:nvSpPr>
          <p:cNvPr id="36" name="TextBox 35"/>
          <p:cNvSpPr txBox="1"/>
          <p:nvPr/>
        </p:nvSpPr>
        <p:spPr>
          <a:xfrm>
            <a:off x="6517678" y="1901952"/>
            <a:ext cx="4851056" cy="274320"/>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01010"/>
                </a:solidFill>
                <a:latin typeface="Segoe UI Semibold"/>
              </a:rPr>
              <a:t>Profit process — and its ceiling</a:t>
            </a:r>
          </a:p>
        </p:txBody>
      </p:sp>
      <p:sp>
        <p:nvSpPr>
          <p:cNvPr id="37" name="TextBox 36"/>
          <p:cNvSpPr txBox="1"/>
          <p:nvPr/>
        </p:nvSpPr>
        <p:spPr>
          <a:xfrm>
            <a:off x="6517678" y="2194560"/>
            <a:ext cx="4851056" cy="54864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626262"/>
                </a:solidFill>
                <a:latin typeface="Segoe UI"/>
              </a:rPr>
              <a:t>T maximal wins at a credit of g times the wing cannot produce more than (1/(1−g))^T. The smallest attainable anytime-valid p-value is its reciprocal.</a:t>
            </a:r>
          </a:p>
        </p:txBody>
      </p:sp>
      <p:sp>
        <p:nvSpPr>
          <p:cNvPr id="38" name="TextBox 37"/>
          <p:cNvSpPr txBox="1"/>
          <p:nvPr/>
        </p:nvSpPr>
        <p:spPr>
          <a:xfrm>
            <a:off x="6517678" y="2834640"/>
            <a:ext cx="684729" cy="292608"/>
          </a:xfrm>
          <a:prstGeom prst="rect">
            <a:avLst/>
          </a:prstGeom>
          <a:noFill/>
        </p:spPr>
        <p:txBody>
          <a:bodyPr wrap="square" lIns="0" rIns="0" tIns="0" bIns="0" anchor="b">
            <a:spAutoFit/>
          </a:bodyPr>
          <a:lstStyle/>
          <a:p>
            <a:pPr algn="l">
              <a:lnSpc>
                <a:spcPct val="116000"/>
              </a:lnSpc>
              <a:spcBef>
                <a:spcPts val="0"/>
              </a:spcBef>
              <a:spcAft>
                <a:spcPts val="0"/>
              </a:spcAft>
            </a:pPr>
            <a:r>
              <a:rPr sz="800" b="0" i="0">
                <a:solidFill>
                  <a:srgbClr val="626262"/>
                </a:solidFill>
                <a:latin typeface="Segoe UI Semibold"/>
              </a:rPr>
              <a:t>credit/wing</a:t>
            </a:r>
          </a:p>
        </p:txBody>
      </p:sp>
      <p:sp>
        <p:nvSpPr>
          <p:cNvPr id="39" name="TextBox 38"/>
          <p:cNvSpPr txBox="1"/>
          <p:nvPr/>
        </p:nvSpPr>
        <p:spPr>
          <a:xfrm>
            <a:off x="7293847" y="2834640"/>
            <a:ext cx="587707"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T = 1</a:t>
            </a:r>
          </a:p>
        </p:txBody>
      </p:sp>
      <p:sp>
        <p:nvSpPr>
          <p:cNvPr id="40" name="TextBox 39"/>
          <p:cNvSpPr txBox="1"/>
          <p:nvPr/>
        </p:nvSpPr>
        <p:spPr>
          <a:xfrm>
            <a:off x="7972995" y="2834640"/>
            <a:ext cx="587707"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T = 3</a:t>
            </a:r>
          </a:p>
        </p:txBody>
      </p:sp>
      <p:sp>
        <p:nvSpPr>
          <p:cNvPr id="41" name="TextBox 40"/>
          <p:cNvSpPr txBox="1"/>
          <p:nvPr/>
        </p:nvSpPr>
        <p:spPr>
          <a:xfrm>
            <a:off x="8652143" y="2834640"/>
            <a:ext cx="587707"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T = 5</a:t>
            </a:r>
          </a:p>
        </p:txBody>
      </p:sp>
      <p:sp>
        <p:nvSpPr>
          <p:cNvPr id="42" name="TextBox 41"/>
          <p:cNvSpPr txBox="1"/>
          <p:nvPr/>
        </p:nvSpPr>
        <p:spPr>
          <a:xfrm>
            <a:off x="9331291" y="2834640"/>
            <a:ext cx="587707"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T = 10</a:t>
            </a:r>
          </a:p>
        </p:txBody>
      </p:sp>
      <p:sp>
        <p:nvSpPr>
          <p:cNvPr id="43" name="TextBox 42"/>
          <p:cNvSpPr txBox="1"/>
          <p:nvPr/>
        </p:nvSpPr>
        <p:spPr>
          <a:xfrm>
            <a:off x="10010439" y="2834640"/>
            <a:ext cx="1266855" cy="292608"/>
          </a:xfrm>
          <a:prstGeom prst="rect">
            <a:avLst/>
          </a:prstGeom>
          <a:noFill/>
        </p:spPr>
        <p:txBody>
          <a:bodyPr wrap="square" lIns="0" rIns="0" tIns="0" bIns="0" anchor="b">
            <a:spAutoFit/>
          </a:bodyPr>
          <a:lstStyle/>
          <a:p>
            <a:pPr algn="r">
              <a:lnSpc>
                <a:spcPct val="116000"/>
              </a:lnSpc>
              <a:spcBef>
                <a:spcPts val="0"/>
              </a:spcBef>
              <a:spcAft>
                <a:spcPts val="0"/>
              </a:spcAft>
            </a:pPr>
            <a:r>
              <a:rPr sz="800" b="0" i="0">
                <a:solidFill>
                  <a:srgbClr val="626262"/>
                </a:solidFill>
                <a:latin typeface="Segoe UI Semibold"/>
              </a:rPr>
              <a:t>sessions for p &lt;= 0.05</a:t>
            </a:r>
          </a:p>
        </p:txBody>
      </p:sp>
      <p:sp>
        <p:nvSpPr>
          <p:cNvPr id="44" name="Rectangle 43"/>
          <p:cNvSpPr/>
          <p:nvPr/>
        </p:nvSpPr>
        <p:spPr>
          <a:xfrm>
            <a:off x="6517678" y="3154680"/>
            <a:ext cx="4851056" cy="9144"/>
          </a:xfrm>
          <a:prstGeom prst="rect">
            <a:avLst/>
          </a:prstGeom>
          <a:solidFill>
            <a:srgbClr val="979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17678" y="3236976"/>
            <a:ext cx="684729" cy="29260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0.15</a:t>
            </a:r>
          </a:p>
        </p:txBody>
      </p:sp>
      <p:sp>
        <p:nvSpPr>
          <p:cNvPr id="46" name="TextBox 45"/>
          <p:cNvSpPr txBox="1"/>
          <p:nvPr/>
        </p:nvSpPr>
        <p:spPr>
          <a:xfrm>
            <a:off x="7293847" y="3236976"/>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1.18</a:t>
            </a:r>
          </a:p>
        </p:txBody>
      </p:sp>
      <p:sp>
        <p:nvSpPr>
          <p:cNvPr id="47" name="TextBox 46"/>
          <p:cNvSpPr txBox="1"/>
          <p:nvPr/>
        </p:nvSpPr>
        <p:spPr>
          <a:xfrm>
            <a:off x="7972995" y="3236976"/>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1.63</a:t>
            </a:r>
          </a:p>
        </p:txBody>
      </p:sp>
      <p:sp>
        <p:nvSpPr>
          <p:cNvPr id="48" name="TextBox 47"/>
          <p:cNvSpPr txBox="1"/>
          <p:nvPr/>
        </p:nvSpPr>
        <p:spPr>
          <a:xfrm>
            <a:off x="8652143" y="3236976"/>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2.25</a:t>
            </a:r>
          </a:p>
        </p:txBody>
      </p:sp>
      <p:sp>
        <p:nvSpPr>
          <p:cNvPr id="49" name="TextBox 48"/>
          <p:cNvSpPr txBox="1"/>
          <p:nvPr/>
        </p:nvSpPr>
        <p:spPr>
          <a:xfrm>
            <a:off x="9331291" y="3236976"/>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5.08</a:t>
            </a:r>
          </a:p>
        </p:txBody>
      </p:sp>
      <p:sp>
        <p:nvSpPr>
          <p:cNvPr id="50" name="TextBox 49"/>
          <p:cNvSpPr txBox="1"/>
          <p:nvPr/>
        </p:nvSpPr>
        <p:spPr>
          <a:xfrm>
            <a:off x="10010439" y="3236976"/>
            <a:ext cx="1266855"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19</a:t>
            </a:r>
          </a:p>
        </p:txBody>
      </p:sp>
      <p:sp>
        <p:nvSpPr>
          <p:cNvPr id="51" name="Rectangle 50"/>
          <p:cNvSpPr/>
          <p:nvPr/>
        </p:nvSpPr>
        <p:spPr>
          <a:xfrm>
            <a:off x="6517678" y="3511296"/>
            <a:ext cx="4851056"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17678" y="3529584"/>
            <a:ext cx="684729" cy="29260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101010"/>
                </a:solidFill>
                <a:latin typeface="Segoe UI Semibold"/>
              </a:rPr>
              <a:t>0.20</a:t>
            </a:r>
          </a:p>
        </p:txBody>
      </p:sp>
      <p:sp>
        <p:nvSpPr>
          <p:cNvPr id="53" name="TextBox 52"/>
          <p:cNvSpPr txBox="1"/>
          <p:nvPr/>
        </p:nvSpPr>
        <p:spPr>
          <a:xfrm>
            <a:off x="7293847" y="3529584"/>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1.25</a:t>
            </a:r>
          </a:p>
        </p:txBody>
      </p:sp>
      <p:sp>
        <p:nvSpPr>
          <p:cNvPr id="54" name="TextBox 53"/>
          <p:cNvSpPr txBox="1"/>
          <p:nvPr/>
        </p:nvSpPr>
        <p:spPr>
          <a:xfrm>
            <a:off x="7972995" y="3529584"/>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101010"/>
                </a:solidFill>
                <a:latin typeface="Segoe UI Semibold"/>
              </a:rPr>
              <a:t>1.95</a:t>
            </a:r>
          </a:p>
        </p:txBody>
      </p:sp>
      <p:sp>
        <p:nvSpPr>
          <p:cNvPr id="55" name="TextBox 54"/>
          <p:cNvSpPr txBox="1"/>
          <p:nvPr/>
        </p:nvSpPr>
        <p:spPr>
          <a:xfrm>
            <a:off x="8652143" y="3529584"/>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3.05</a:t>
            </a:r>
          </a:p>
        </p:txBody>
      </p:sp>
      <p:sp>
        <p:nvSpPr>
          <p:cNvPr id="56" name="TextBox 55"/>
          <p:cNvSpPr txBox="1"/>
          <p:nvPr/>
        </p:nvSpPr>
        <p:spPr>
          <a:xfrm>
            <a:off x="9331291" y="3529584"/>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9.31</a:t>
            </a:r>
          </a:p>
        </p:txBody>
      </p:sp>
      <p:sp>
        <p:nvSpPr>
          <p:cNvPr id="57" name="TextBox 56"/>
          <p:cNvSpPr txBox="1"/>
          <p:nvPr/>
        </p:nvSpPr>
        <p:spPr>
          <a:xfrm>
            <a:off x="10010439" y="3529584"/>
            <a:ext cx="1266855"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101010"/>
                </a:solidFill>
                <a:latin typeface="Segoe UI Semibold"/>
              </a:rPr>
              <a:t>14</a:t>
            </a:r>
          </a:p>
        </p:txBody>
      </p:sp>
      <p:sp>
        <p:nvSpPr>
          <p:cNvPr id="58" name="Rectangle 57"/>
          <p:cNvSpPr/>
          <p:nvPr/>
        </p:nvSpPr>
        <p:spPr>
          <a:xfrm>
            <a:off x="6517678" y="3803904"/>
            <a:ext cx="4851056" cy="914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17678" y="3822191"/>
            <a:ext cx="684729" cy="292608"/>
          </a:xfrm>
          <a:prstGeom prst="rect">
            <a:avLst/>
          </a:prstGeom>
          <a:noFill/>
        </p:spPr>
        <p:txBody>
          <a:bodyPr wrap="square" lIns="0" rIns="0" tIns="0" bIns="0" anchor="ctr">
            <a:spAutoFit/>
          </a:bodyPr>
          <a:lstStyle/>
          <a:p>
            <a:pPr algn="l">
              <a:lnSpc>
                <a:spcPct val="116000"/>
              </a:lnSpc>
              <a:spcBef>
                <a:spcPts val="0"/>
              </a:spcBef>
              <a:spcAft>
                <a:spcPts val="0"/>
              </a:spcAft>
            </a:pPr>
            <a:r>
              <a:rPr sz="900" b="0" i="0">
                <a:solidFill>
                  <a:srgbClr val="2B373B"/>
                </a:solidFill>
                <a:latin typeface="Segoe UI"/>
              </a:rPr>
              <a:t>0.25</a:t>
            </a:r>
          </a:p>
        </p:txBody>
      </p:sp>
      <p:sp>
        <p:nvSpPr>
          <p:cNvPr id="60" name="TextBox 59"/>
          <p:cNvSpPr txBox="1"/>
          <p:nvPr/>
        </p:nvSpPr>
        <p:spPr>
          <a:xfrm>
            <a:off x="7293847" y="3822191"/>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1.33</a:t>
            </a:r>
          </a:p>
        </p:txBody>
      </p:sp>
      <p:sp>
        <p:nvSpPr>
          <p:cNvPr id="61" name="TextBox 60"/>
          <p:cNvSpPr txBox="1"/>
          <p:nvPr/>
        </p:nvSpPr>
        <p:spPr>
          <a:xfrm>
            <a:off x="7972995" y="3822191"/>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2.37</a:t>
            </a:r>
          </a:p>
        </p:txBody>
      </p:sp>
      <p:sp>
        <p:nvSpPr>
          <p:cNvPr id="62" name="TextBox 61"/>
          <p:cNvSpPr txBox="1"/>
          <p:nvPr/>
        </p:nvSpPr>
        <p:spPr>
          <a:xfrm>
            <a:off x="8652143" y="3822191"/>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4.21</a:t>
            </a:r>
          </a:p>
        </p:txBody>
      </p:sp>
      <p:sp>
        <p:nvSpPr>
          <p:cNvPr id="63" name="TextBox 62"/>
          <p:cNvSpPr txBox="1"/>
          <p:nvPr/>
        </p:nvSpPr>
        <p:spPr>
          <a:xfrm>
            <a:off x="9331291" y="3822191"/>
            <a:ext cx="587707"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17.76</a:t>
            </a:r>
          </a:p>
        </p:txBody>
      </p:sp>
      <p:sp>
        <p:nvSpPr>
          <p:cNvPr id="64" name="TextBox 63"/>
          <p:cNvSpPr txBox="1"/>
          <p:nvPr/>
        </p:nvSpPr>
        <p:spPr>
          <a:xfrm>
            <a:off x="10010439" y="3822191"/>
            <a:ext cx="1266855" cy="292608"/>
          </a:xfrm>
          <a:prstGeom prst="rect">
            <a:avLst/>
          </a:prstGeom>
          <a:noFill/>
        </p:spPr>
        <p:txBody>
          <a:bodyPr wrap="square" lIns="0" rIns="0" tIns="0" bIns="0" anchor="ctr">
            <a:spAutoFit/>
          </a:bodyPr>
          <a:lstStyle/>
          <a:p>
            <a:pPr algn="r">
              <a:lnSpc>
                <a:spcPct val="116000"/>
              </a:lnSpc>
              <a:spcBef>
                <a:spcPts val="0"/>
              </a:spcBef>
              <a:spcAft>
                <a:spcPts val="0"/>
              </a:spcAft>
            </a:pPr>
            <a:r>
              <a:rPr sz="900" b="0" i="0">
                <a:solidFill>
                  <a:srgbClr val="2B373B"/>
                </a:solidFill>
                <a:latin typeface="Segoe UI"/>
              </a:rPr>
              <a:t>11</a:t>
            </a:r>
          </a:p>
        </p:txBody>
      </p:sp>
      <p:sp>
        <p:nvSpPr>
          <p:cNvPr id="65" name="Rounded Rectangle 64"/>
          <p:cNvSpPr/>
          <p:nvPr/>
        </p:nvSpPr>
        <p:spPr>
          <a:xfrm>
            <a:off x="6517678" y="4572000"/>
            <a:ext cx="4851056" cy="822960"/>
          </a:xfrm>
          <a:prstGeom prst="roundRect">
            <a:avLst>
              <a:gd name="adj" fmla="val 5000"/>
            </a:avLst>
          </a:prstGeom>
          <a:solidFill>
            <a:srgbClr val="FEE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700558" y="4700016"/>
            <a:ext cx="4485296" cy="640080"/>
          </a:xfrm>
          <a:prstGeom prst="rect">
            <a:avLst/>
          </a:prstGeom>
          <a:noFill/>
        </p:spPr>
        <p:txBody>
          <a:bodyPr wrap="square" lIns="0" rIns="0" tIns="0" bIns="0" anchor="t">
            <a:spAutoFit/>
          </a:bodyPr>
          <a:lstStyle/>
          <a:p>
            <a:pPr algn="l">
              <a:lnSpc>
                <a:spcPct val="128000"/>
              </a:lnSpc>
              <a:spcBef>
                <a:spcPts val="0"/>
              </a:spcBef>
              <a:spcAft>
                <a:spcPts val="0"/>
              </a:spcAft>
            </a:pPr>
            <a:r>
              <a:rPr sz="900" b="0" i="0">
                <a:solidFill>
                  <a:srgbClr val="2B373B"/>
                </a:solidFill>
                <a:latin typeface="Segoe UI"/>
              </a:rPr>
              <a:t>At a credit of 0.20 of the wing, three perfect sessions reach 1.95, so the p-value cannot fall below 0.51. Fourteen consecutive perfect packages would be needed for 0.05. Evidence accrues per package, so two smaller packages a session raise the three-session ceiling to 3.81 at an unchanged risk budget.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Sources: literature (1 of 2)</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Not part of the presentation itself. The numbers in square brackets on the slides refer to these entries, so that every claim can be traced back to where it comes from.</a:t>
            </a:r>
          </a:p>
        </p:txBody>
      </p:sp>
      <p:sp>
        <p:nvSpPr>
          <p:cNvPr id="5" name="Rectangle 4"/>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  ·  Appendix</a:t>
            </a:r>
          </a:p>
        </p:txBody>
      </p:sp>
      <p:sp>
        <p:nvSpPr>
          <p:cNvPr id="7" name="TextBox 6"/>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12</a:t>
            </a:r>
          </a:p>
        </p:txBody>
      </p:sp>
      <p:sp>
        <p:nvSpPr>
          <p:cNvPr id="8" name="TextBox 7"/>
          <p:cNvSpPr txBox="1"/>
          <p:nvPr/>
        </p:nvSpPr>
        <p:spPr>
          <a:xfrm>
            <a:off x="822960" y="1883664"/>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a:t>
            </a:r>
          </a:p>
        </p:txBody>
      </p:sp>
      <p:sp>
        <p:nvSpPr>
          <p:cNvPr id="9" name="TextBox 8"/>
          <p:cNvSpPr txBox="1"/>
          <p:nvPr/>
        </p:nvSpPr>
        <p:spPr>
          <a:xfrm>
            <a:off x="1243584" y="1883664"/>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Dew-Becker, I. &amp; Giglio, S. (2025). The Decline of the Variance Risk Premium: Evidence from Traded and Synthetic Options. Federal Reserve Bank of Chicago WP 2025-17.</a:t>
            </a:r>
          </a:p>
        </p:txBody>
      </p:sp>
      <p:sp>
        <p:nvSpPr>
          <p:cNvPr id="10" name="TextBox 9"/>
          <p:cNvSpPr txBox="1"/>
          <p:nvPr/>
        </p:nvSpPr>
        <p:spPr>
          <a:xfrm>
            <a:off x="822960" y="233720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[2]</a:t>
            </a:r>
          </a:p>
        </p:txBody>
      </p:sp>
      <p:sp>
        <p:nvSpPr>
          <p:cNvPr id="11" name="TextBox 10"/>
          <p:cNvSpPr txBox="1"/>
          <p:nvPr/>
        </p:nvSpPr>
        <p:spPr>
          <a:xfrm>
            <a:off x="1243584" y="233720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Vilkov, G. (2026). 0DTE Trading Rules (SPXW, n = 1,319), with the author's KNOWN-ISSUES record of the August 2026 transaction-cost correction, github.com/vilkovgr/0dte-strategies.</a:t>
            </a:r>
          </a:p>
        </p:txBody>
      </p:sp>
      <p:sp>
        <p:nvSpPr>
          <p:cNvPr id="12" name="TextBox 11"/>
          <p:cNvSpPr txBox="1"/>
          <p:nvPr/>
        </p:nvSpPr>
        <p:spPr>
          <a:xfrm>
            <a:off x="822960" y="293979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[3]</a:t>
            </a:r>
          </a:p>
        </p:txBody>
      </p:sp>
      <p:sp>
        <p:nvSpPr>
          <p:cNvPr id="13" name="TextBox 12"/>
          <p:cNvSpPr txBox="1"/>
          <p:nvPr/>
        </p:nvSpPr>
        <p:spPr>
          <a:xfrm>
            <a:off x="1243584" y="293979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Muravyev, D. &amp; Ni, X. (2020). Why do option returns change sign from day to night? Journal of Financial Economics 136(1):219-238.</a:t>
            </a:r>
          </a:p>
        </p:txBody>
      </p:sp>
      <p:sp>
        <p:nvSpPr>
          <p:cNvPr id="14" name="TextBox 13"/>
          <p:cNvSpPr txBox="1"/>
          <p:nvPr/>
        </p:nvSpPr>
        <p:spPr>
          <a:xfrm>
            <a:off x="822960" y="3393338"/>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[4]</a:t>
            </a:r>
          </a:p>
        </p:txBody>
      </p:sp>
      <p:sp>
        <p:nvSpPr>
          <p:cNvPr id="15" name="TextBox 14"/>
          <p:cNvSpPr txBox="1"/>
          <p:nvPr/>
        </p:nvSpPr>
        <p:spPr>
          <a:xfrm>
            <a:off x="1243584" y="3393338"/>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Bailey, D. &amp; Lopez de Prado, M. (2014). The Deflated Sharpe Ratio. Journal of Portfolio Management 40(5).</a:t>
            </a:r>
          </a:p>
        </p:txBody>
      </p:sp>
      <p:sp>
        <p:nvSpPr>
          <p:cNvPr id="16" name="TextBox 15"/>
          <p:cNvSpPr txBox="1"/>
          <p:nvPr/>
        </p:nvSpPr>
        <p:spPr>
          <a:xfrm>
            <a:off x="822960" y="3846880"/>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[5]</a:t>
            </a:r>
          </a:p>
        </p:txBody>
      </p:sp>
      <p:sp>
        <p:nvSpPr>
          <p:cNvPr id="17" name="TextBox 16"/>
          <p:cNvSpPr txBox="1"/>
          <p:nvPr/>
        </p:nvSpPr>
        <p:spPr>
          <a:xfrm>
            <a:off x="1243584" y="3846880"/>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Angelopoulos, A. N., Bates, S., Fisch, A., Lei, L. &amp; Schuster, T. (2024). Conformal Risk Control. ICLR 2024; arXiv:2208.02814.</a:t>
            </a:r>
          </a:p>
        </p:txBody>
      </p:sp>
      <p:sp>
        <p:nvSpPr>
          <p:cNvPr id="18" name="TextBox 17"/>
          <p:cNvSpPr txBox="1"/>
          <p:nvPr/>
        </p:nvSpPr>
        <p:spPr>
          <a:xfrm>
            <a:off x="6347307" y="1883664"/>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[6]</a:t>
            </a:r>
          </a:p>
        </p:txBody>
      </p:sp>
      <p:sp>
        <p:nvSpPr>
          <p:cNvPr id="19" name="TextBox 18"/>
          <p:cNvSpPr txBox="1"/>
          <p:nvPr/>
        </p:nvSpPr>
        <p:spPr>
          <a:xfrm>
            <a:off x="6767931" y="1883664"/>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Feldman, S., Ringel, L., Bates, S. &amp; Romano, Y. (2023). Achieving Risk Control in Online Learning Settings. TMLR; arXiv:2205.09095.</a:t>
            </a:r>
          </a:p>
        </p:txBody>
      </p:sp>
      <p:sp>
        <p:nvSpPr>
          <p:cNvPr id="20" name="TextBox 19"/>
          <p:cNvSpPr txBox="1"/>
          <p:nvPr/>
        </p:nvSpPr>
        <p:spPr>
          <a:xfrm>
            <a:off x="6347307" y="233720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[7]</a:t>
            </a:r>
          </a:p>
        </p:txBody>
      </p:sp>
      <p:sp>
        <p:nvSpPr>
          <p:cNvPr id="21" name="TextBox 20"/>
          <p:cNvSpPr txBox="1"/>
          <p:nvPr/>
        </p:nvSpPr>
        <p:spPr>
          <a:xfrm>
            <a:off x="6767931" y="233720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Breeden, D. T. &amp; Litzenberger, R. H. (1978). Prices of State-Contingent Claims Implicit in Option Prices. Journal of Business 51(4).</a:t>
            </a:r>
          </a:p>
        </p:txBody>
      </p:sp>
      <p:sp>
        <p:nvSpPr>
          <p:cNvPr id="22" name="TextBox 21"/>
          <p:cNvSpPr txBox="1"/>
          <p:nvPr/>
        </p:nvSpPr>
        <p:spPr>
          <a:xfrm>
            <a:off x="6347307" y="2790748"/>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[8]</a:t>
            </a:r>
          </a:p>
        </p:txBody>
      </p:sp>
      <p:sp>
        <p:nvSpPr>
          <p:cNvPr id="23" name="TextBox 22"/>
          <p:cNvSpPr txBox="1"/>
          <p:nvPr/>
        </p:nvSpPr>
        <p:spPr>
          <a:xfrm>
            <a:off x="6767931" y="2790748"/>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Glasserman, P. &amp; Lin, C. (2024). Assessing Look-Ahead Bias in Stock Return Predictions Generated by GPT Sentiment Analysis. Journal of Financial Data Science 6(1).</a:t>
            </a:r>
          </a:p>
        </p:txBody>
      </p:sp>
      <p:sp>
        <p:nvSpPr>
          <p:cNvPr id="24" name="TextBox 23"/>
          <p:cNvSpPr txBox="1"/>
          <p:nvPr/>
        </p:nvSpPr>
        <p:spPr>
          <a:xfrm>
            <a:off x="6347307" y="3244291"/>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[9]</a:t>
            </a:r>
          </a:p>
        </p:txBody>
      </p:sp>
      <p:sp>
        <p:nvSpPr>
          <p:cNvPr id="25" name="TextBox 24"/>
          <p:cNvSpPr txBox="1"/>
          <p:nvPr/>
        </p:nvSpPr>
        <p:spPr>
          <a:xfrm>
            <a:off x="6767931" y="3244291"/>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Kim (2026) and Bahuguna (2026) on majority voting across size-3 model subsets. Full entries in research/STATE_OF_THE_ART.md, section 14.</a:t>
            </a:r>
          </a:p>
        </p:txBody>
      </p:sp>
      <p:sp>
        <p:nvSpPr>
          <p:cNvPr id="26" name="TextBox 25"/>
          <p:cNvSpPr txBox="1"/>
          <p:nvPr/>
        </p:nvSpPr>
        <p:spPr>
          <a:xfrm>
            <a:off x="6347307" y="3697833"/>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[10]</a:t>
            </a:r>
          </a:p>
        </p:txBody>
      </p:sp>
      <p:sp>
        <p:nvSpPr>
          <p:cNvPr id="27" name="TextBox 26"/>
          <p:cNvSpPr txBox="1"/>
          <p:nvPr/>
        </p:nvSpPr>
        <p:spPr>
          <a:xfrm>
            <a:off x="6767931" y="3697833"/>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Koviazin, Mudarisov, Polyachenko &amp; State (2026). IC-AIF 2026, DOI 10.1145/3800973.3801029.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Sources: literature (2 of 2)</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Regulation is taken as a design template for the gates; no compliance is claimed. Entries [16] to [18] are prior art that this work does not claim as its own.</a:t>
            </a:r>
          </a:p>
        </p:txBody>
      </p:sp>
      <p:sp>
        <p:nvSpPr>
          <p:cNvPr id="5" name="Rectangle 4"/>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  ·  Appendix</a:t>
            </a:r>
          </a:p>
        </p:txBody>
      </p:sp>
      <p:sp>
        <p:nvSpPr>
          <p:cNvPr id="7" name="TextBox 6"/>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13</a:t>
            </a:r>
          </a:p>
        </p:txBody>
      </p:sp>
      <p:sp>
        <p:nvSpPr>
          <p:cNvPr id="8" name="TextBox 7"/>
          <p:cNvSpPr txBox="1"/>
          <p:nvPr/>
        </p:nvSpPr>
        <p:spPr>
          <a:xfrm>
            <a:off x="822960" y="1883664"/>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[11]</a:t>
            </a:r>
          </a:p>
        </p:txBody>
      </p:sp>
      <p:sp>
        <p:nvSpPr>
          <p:cNvPr id="9" name="TextBox 8"/>
          <p:cNvSpPr txBox="1"/>
          <p:nvPr/>
        </p:nvSpPr>
        <p:spPr>
          <a:xfrm>
            <a:off x="1243584" y="1883664"/>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Thinking Machines Lab (2025), on inference kernels that are not batch-invariant.</a:t>
            </a:r>
          </a:p>
        </p:txBody>
      </p:sp>
      <p:sp>
        <p:nvSpPr>
          <p:cNvPr id="10" name="TextBox 9"/>
          <p:cNvSpPr txBox="1"/>
          <p:nvPr/>
        </p:nvSpPr>
        <p:spPr>
          <a:xfrm>
            <a:off x="822960" y="2188159"/>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[12]</a:t>
            </a:r>
          </a:p>
        </p:txBody>
      </p:sp>
      <p:sp>
        <p:nvSpPr>
          <p:cNvPr id="11" name="TextBox 10"/>
          <p:cNvSpPr txBox="1"/>
          <p:nvPr/>
        </p:nvSpPr>
        <p:spPr>
          <a:xfrm>
            <a:off x="1243584" y="2188159"/>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SEC (2010). Rule 15c3-5, Release 34-63241. ESMA / EU (2017). MiFID II RTS 6, Delegated Regulation 2017/589, Articles 12, 15 and 17. FINRA (2015). Regulatory Notice 15-09. SEC (2013). In the Matter of Knight Capital Americas LLC, Release 34-70694. Taken as a design template; no compliance is claimed.</a:t>
            </a:r>
          </a:p>
        </p:txBody>
      </p:sp>
      <p:sp>
        <p:nvSpPr>
          <p:cNvPr id="12" name="TextBox 11"/>
          <p:cNvSpPr txBox="1"/>
          <p:nvPr/>
        </p:nvSpPr>
        <p:spPr>
          <a:xfrm>
            <a:off x="822960" y="293979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[13]</a:t>
            </a:r>
          </a:p>
        </p:txBody>
      </p:sp>
      <p:sp>
        <p:nvSpPr>
          <p:cNvPr id="13" name="TextBox 12"/>
          <p:cNvSpPr txBox="1"/>
          <p:nvPr/>
        </p:nvSpPr>
        <p:spPr>
          <a:xfrm>
            <a:off x="1243584" y="293979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Fu, L., Li, S., Musto, D. K. &amp; Pearson, N. D. (2025). Hope at a Reasonable Price: Customer Use of Limit Orders in the 0DTE Market. SEC DERA Working Paper, 16 March 2025.</a:t>
            </a:r>
          </a:p>
        </p:txBody>
      </p:sp>
      <p:sp>
        <p:nvSpPr>
          <p:cNvPr id="14" name="TextBox 13"/>
          <p:cNvSpPr txBox="1"/>
          <p:nvPr/>
        </p:nvSpPr>
        <p:spPr>
          <a:xfrm>
            <a:off x="822960" y="3542385"/>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[14]</a:t>
            </a:r>
          </a:p>
        </p:txBody>
      </p:sp>
      <p:sp>
        <p:nvSpPr>
          <p:cNvPr id="15" name="TextBox 14"/>
          <p:cNvSpPr txBox="1"/>
          <p:nvPr/>
        </p:nvSpPr>
        <p:spPr>
          <a:xfrm>
            <a:off x="1243584" y="3542385"/>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Goetzmann, W., Ingersoll, J., Spiegel, M. &amp; Welch, I. (2007). Portfolio Performance Manipulation and Manipulation-proof Performance Measures. RFS 20(5):1503-1546.</a:t>
            </a:r>
          </a:p>
        </p:txBody>
      </p:sp>
      <p:sp>
        <p:nvSpPr>
          <p:cNvPr id="16" name="TextBox 15"/>
          <p:cNvSpPr txBox="1"/>
          <p:nvPr/>
        </p:nvSpPr>
        <p:spPr>
          <a:xfrm>
            <a:off x="822960" y="3995928"/>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[15]</a:t>
            </a:r>
          </a:p>
        </p:txBody>
      </p:sp>
      <p:sp>
        <p:nvSpPr>
          <p:cNvPr id="17" name="TextBox 16"/>
          <p:cNvSpPr txBox="1"/>
          <p:nvPr/>
        </p:nvSpPr>
        <p:spPr>
          <a:xfrm>
            <a:off x="1243584" y="3995928"/>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Waudby-Smith, I. &amp; Ramdas, A. (2023). Estimating means of bounded random variables by betting. JRSS-B 86(1). Ramdas, A., Grunwald, P., Vovk, V. &amp; Shafer, G. (2023). Game-theoretic statistics and safe anytime-valid inference. Statistical Science 38(4).</a:t>
            </a:r>
          </a:p>
        </p:txBody>
      </p:sp>
      <p:sp>
        <p:nvSpPr>
          <p:cNvPr id="18" name="TextBox 17"/>
          <p:cNvSpPr txBox="1"/>
          <p:nvPr/>
        </p:nvSpPr>
        <p:spPr>
          <a:xfrm>
            <a:off x="6347307" y="1883664"/>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[16]</a:t>
            </a:r>
          </a:p>
        </p:txBody>
      </p:sp>
      <p:sp>
        <p:nvSpPr>
          <p:cNvPr id="19" name="TextBox 18"/>
          <p:cNvSpPr txBox="1"/>
          <p:nvPr/>
        </p:nvSpPr>
        <p:spPr>
          <a:xfrm>
            <a:off x="6767931" y="1883664"/>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Lekeufack, J., Angelopoulos, A. N., Bajcsy, A., Jordan, M. I. &amp; Malik, J. (2024). Conformal Decision Theory. ICRA 2024. Ryan (2026). Conformal Kelly. arXiv:2608.01494. Prior art we do not claim.</a:t>
            </a:r>
          </a:p>
        </p:txBody>
      </p:sp>
      <p:sp>
        <p:nvSpPr>
          <p:cNvPr id="20" name="TextBox 19"/>
          <p:cNvSpPr txBox="1"/>
          <p:nvPr/>
        </p:nvSpPr>
        <p:spPr>
          <a:xfrm>
            <a:off x="6347307" y="2486253"/>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[17]</a:t>
            </a:r>
          </a:p>
        </p:txBody>
      </p:sp>
      <p:sp>
        <p:nvSpPr>
          <p:cNvPr id="21" name="TextBox 20"/>
          <p:cNvSpPr txBox="1"/>
          <p:nvPr/>
        </p:nvSpPr>
        <p:spPr>
          <a:xfrm>
            <a:off x="6767931" y="2486253"/>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Jin, Y. &amp; Ren, Z. (2025). JRSS-B 87(4). Gibbs, I., Cherian, J. J. &amp; Candes, E. J. (2025). JRSS-B 87(4). Xu, Guo &amp; Wei (2025). Selective Conformal Risk Control. arXiv:2512.12844.</a:t>
            </a:r>
          </a:p>
        </p:txBody>
      </p:sp>
      <p:sp>
        <p:nvSpPr>
          <p:cNvPr id="22" name="TextBox 21"/>
          <p:cNvSpPr txBox="1"/>
          <p:nvPr/>
        </p:nvSpPr>
        <p:spPr>
          <a:xfrm>
            <a:off x="6347307" y="3088843"/>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[18]</a:t>
            </a:r>
          </a:p>
        </p:txBody>
      </p:sp>
      <p:sp>
        <p:nvSpPr>
          <p:cNvPr id="23" name="TextBox 22"/>
          <p:cNvSpPr txBox="1"/>
          <p:nvPr/>
        </p:nvSpPr>
        <p:spPr>
          <a:xfrm>
            <a:off x="6767931" y="3088843"/>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Ushakov &amp; Berdinsky (2026). arXiv:2608.19223. Coelho (2026). arXiv:2606.01356. Echenim, Guiol &amp; Peltier (2018). arXiv:1807.09873. Prior formal verification in finance.</a:t>
            </a:r>
          </a:p>
        </p:txBody>
      </p:sp>
      <p:sp>
        <p:nvSpPr>
          <p:cNvPr id="24" name="TextBox 23"/>
          <p:cNvSpPr txBox="1"/>
          <p:nvPr/>
        </p:nvSpPr>
        <p:spPr>
          <a:xfrm>
            <a:off x="6347307" y="3542385"/>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[19]</a:t>
            </a:r>
          </a:p>
        </p:txBody>
      </p:sp>
      <p:sp>
        <p:nvSpPr>
          <p:cNvPr id="25" name="TextBox 24"/>
          <p:cNvSpPr txBox="1"/>
          <p:nvPr/>
        </p:nvSpPr>
        <p:spPr>
          <a:xfrm>
            <a:off x="6767931" y="3542385"/>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Almeida, C., Freire, G. &amp; Hizmeri, R. (2025). 0DTE Asset Pricing. SSRN 4701401. Beckmeyer, H., Branger, N. &amp; Gayda, L. (2023). Retail Traders Love 0DTE Options... But Should They? SSRN 4404704.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20624"/>
            <a:ext cx="7665415" cy="548640"/>
          </a:xfrm>
          <a:prstGeom prst="rect">
            <a:avLst/>
          </a:prstGeom>
          <a:noFill/>
        </p:spPr>
        <p:txBody>
          <a:bodyPr wrap="square" lIns="0" rIns="0" tIns="0" bIns="0" anchor="t">
            <a:spAutoFit/>
          </a:bodyPr>
          <a:lstStyle/>
          <a:p>
            <a:pPr algn="l">
              <a:lnSpc>
                <a:spcPct val="100000"/>
              </a:lnSpc>
              <a:spcBef>
                <a:spcPts val="0"/>
              </a:spcBef>
              <a:spcAft>
                <a:spcPts val="0"/>
              </a:spcAft>
            </a:pPr>
            <a:r>
              <a:rPr sz="2500" b="0" i="0">
                <a:solidFill>
                  <a:srgbClr val="101010"/>
                </a:solidFill>
                <a:latin typeface="Segoe UI Semibold"/>
              </a:rPr>
              <a:t>Sources: this repository</a:t>
            </a:r>
          </a:p>
        </p:txBody>
      </p:sp>
      <p:sp>
        <p:nvSpPr>
          <p:cNvPr id="3" name="Rectangle 2"/>
          <p:cNvSpPr/>
          <p:nvPr/>
        </p:nvSpPr>
        <p:spPr>
          <a:xfrm>
            <a:off x="822960" y="1024128"/>
            <a:ext cx="566928" cy="50292"/>
          </a:xfrm>
          <a:prstGeom prst="rect">
            <a:avLst/>
          </a:prstGeom>
          <a:solidFill>
            <a:srgbClr val="FCD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70432"/>
            <a:ext cx="7665415" cy="566928"/>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2B373B"/>
                </a:solidFill>
                <a:latin typeface="Segoe UI"/>
              </a:rPr>
              <a:t>Every figure on the slides is regenerated by a script in the repository; scripts/reproduce.py recomputes all of them and prints MATCH or MISMATCH against the documents.</a:t>
            </a:r>
          </a:p>
        </p:txBody>
      </p:sp>
      <p:sp>
        <p:nvSpPr>
          <p:cNvPr id="5" name="Rectangle 4"/>
          <p:cNvSpPr/>
          <p:nvPr/>
        </p:nvSpPr>
        <p:spPr>
          <a:xfrm>
            <a:off x="822960" y="6272784"/>
            <a:ext cx="10545775" cy="9144"/>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364224"/>
            <a:ext cx="7382042" cy="228600"/>
          </a:xfrm>
          <a:prstGeom prst="rect">
            <a:avLst/>
          </a:prstGeom>
          <a:noFill/>
        </p:spPr>
        <p:txBody>
          <a:bodyPr wrap="square" lIns="0" rIns="0" tIns="0" bIns="0" anchor="t">
            <a:spAutoFit/>
          </a:bodyPr>
          <a:lstStyle/>
          <a:p>
            <a:pPr algn="l">
              <a:lnSpc>
                <a:spcPct val="116000"/>
              </a:lnSpc>
              <a:spcBef>
                <a:spcPts val="0"/>
              </a:spcBef>
              <a:spcAft>
                <a:spcPts val="0"/>
              </a:spcAft>
            </a:pPr>
            <a:r>
              <a:rPr sz="800" b="0" i="0">
                <a:solidFill>
                  <a:srgbClr val="979797"/>
                </a:solidFill>
                <a:latin typeface="Segoe UI"/>
              </a:rPr>
              <a:t>Delphi — the Conformal Risk Control Condor  ·  Appendix</a:t>
            </a:r>
          </a:p>
        </p:txBody>
      </p:sp>
      <p:sp>
        <p:nvSpPr>
          <p:cNvPr id="7" name="TextBox 6"/>
          <p:cNvSpPr txBox="1"/>
          <p:nvPr/>
        </p:nvSpPr>
        <p:spPr>
          <a:xfrm>
            <a:off x="10271455" y="6364224"/>
            <a:ext cx="1097280" cy="228600"/>
          </a:xfrm>
          <a:prstGeom prst="rect">
            <a:avLst/>
          </a:prstGeom>
          <a:noFill/>
        </p:spPr>
        <p:txBody>
          <a:bodyPr wrap="square" lIns="0" rIns="0" tIns="0" bIns="0" anchor="t">
            <a:spAutoFit/>
          </a:bodyPr>
          <a:lstStyle/>
          <a:p>
            <a:pPr algn="r">
              <a:lnSpc>
                <a:spcPct val="116000"/>
              </a:lnSpc>
              <a:spcBef>
                <a:spcPts val="0"/>
              </a:spcBef>
              <a:spcAft>
                <a:spcPts val="0"/>
              </a:spcAft>
            </a:pPr>
            <a:r>
              <a:rPr sz="800" b="0" i="0">
                <a:solidFill>
                  <a:srgbClr val="979797"/>
                </a:solidFill>
                <a:latin typeface="Segoe UI"/>
              </a:rPr>
              <a:t>14</a:t>
            </a:r>
          </a:p>
        </p:txBody>
      </p:sp>
      <p:sp>
        <p:nvSpPr>
          <p:cNvPr id="8" name="TextBox 7"/>
          <p:cNvSpPr txBox="1"/>
          <p:nvPr/>
        </p:nvSpPr>
        <p:spPr>
          <a:xfrm>
            <a:off x="822960" y="1883664"/>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[R1]</a:t>
            </a:r>
          </a:p>
        </p:txBody>
      </p:sp>
      <p:sp>
        <p:nvSpPr>
          <p:cNvPr id="9" name="TextBox 8"/>
          <p:cNvSpPr txBox="1"/>
          <p:nvPr/>
        </p:nvSpPr>
        <p:spPr>
          <a:xfrm>
            <a:off x="1243584" y="1883664"/>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docs/THEORY.md — definitions, Lemmas 1, 2 and 5, Theorems 3 and 4, the assumption list in section 6, the pre-registered give-up of the overnight premium in section 8, the e-processes in section 9.</a:t>
            </a:r>
          </a:p>
        </p:txBody>
      </p:sp>
      <p:sp>
        <p:nvSpPr>
          <p:cNvPr id="10" name="TextBox 9"/>
          <p:cNvSpPr txBox="1"/>
          <p:nvPr/>
        </p:nvSpPr>
        <p:spPr>
          <a:xfrm>
            <a:off x="822960" y="2486253"/>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[R2]</a:t>
            </a:r>
          </a:p>
        </p:txBody>
      </p:sp>
      <p:sp>
        <p:nvSpPr>
          <p:cNvPr id="11" name="TextBox 10"/>
          <p:cNvSpPr txBox="1"/>
          <p:nvPr/>
        </p:nvSpPr>
        <p:spPr>
          <a:xfrm>
            <a:off x="1243584" y="2486253"/>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docs/conformal_backfill.md — 618 calibrated sessions replayed through both online tracks.</a:t>
            </a:r>
          </a:p>
        </p:txBody>
      </p:sp>
      <p:sp>
        <p:nvSpPr>
          <p:cNvPr id="12" name="TextBox 11"/>
          <p:cNvSpPr txBox="1"/>
          <p:nvPr/>
        </p:nvSpPr>
        <p:spPr>
          <a:xfrm>
            <a:off x="822960" y="293979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[R3]</a:t>
            </a:r>
          </a:p>
        </p:txBody>
      </p:sp>
      <p:sp>
        <p:nvSpPr>
          <p:cNvPr id="13" name="TextBox 12"/>
          <p:cNvSpPr txBox="1"/>
          <p:nvPr/>
        </p:nvSpPr>
        <p:spPr>
          <a:xfrm>
            <a:off x="1243584" y="293979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docs/evidence.md — the two e-processes and the evidence ceiling.</a:t>
            </a:r>
          </a:p>
        </p:txBody>
      </p:sp>
      <p:sp>
        <p:nvSpPr>
          <p:cNvPr id="14" name="TextBox 13"/>
          <p:cNvSpPr txBox="1"/>
          <p:nvPr/>
        </p:nvSpPr>
        <p:spPr>
          <a:xfrm>
            <a:off x="822960" y="3244291"/>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[R4]</a:t>
            </a:r>
          </a:p>
        </p:txBody>
      </p:sp>
      <p:sp>
        <p:nvSpPr>
          <p:cNvPr id="15" name="TextBox 14"/>
          <p:cNvSpPr txBox="1"/>
          <p:nvPr/>
        </p:nvSpPr>
        <p:spPr>
          <a:xfrm>
            <a:off x="1243584" y="3244291"/>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config/risk_limits.yaml and agent/gates/engine.py — the 31 gates as code, immutable at runtime.</a:t>
            </a:r>
          </a:p>
        </p:txBody>
      </p:sp>
      <p:sp>
        <p:nvSpPr>
          <p:cNvPr id="16" name="TextBox 15"/>
          <p:cNvSpPr txBox="1"/>
          <p:nvPr/>
        </p:nvSpPr>
        <p:spPr>
          <a:xfrm>
            <a:off x="822960" y="3697833"/>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[R5]</a:t>
            </a:r>
          </a:p>
        </p:txBody>
      </p:sp>
      <p:sp>
        <p:nvSpPr>
          <p:cNvPr id="17" name="TextBox 16"/>
          <p:cNvSpPr txBox="1"/>
          <p:nvPr/>
        </p:nvSpPr>
        <p:spPr>
          <a:xfrm>
            <a:off x="1243584" y="3697833"/>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docs/CONFIG_CHANGES.md — every pre-registered parameter changed after the first live cycle, with date, evidence and effect.</a:t>
            </a:r>
          </a:p>
        </p:txBody>
      </p:sp>
      <p:sp>
        <p:nvSpPr>
          <p:cNvPr id="18" name="TextBox 17"/>
          <p:cNvSpPr txBox="1"/>
          <p:nvPr/>
        </p:nvSpPr>
        <p:spPr>
          <a:xfrm>
            <a:off x="822960" y="415137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[R6]</a:t>
            </a:r>
          </a:p>
        </p:txBody>
      </p:sp>
      <p:sp>
        <p:nvSpPr>
          <p:cNvPr id="19" name="TextBox 18"/>
          <p:cNvSpPr txBox="1"/>
          <p:nvPr/>
        </p:nvSpPr>
        <p:spPr>
          <a:xfrm>
            <a:off x="1243584" y="415137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lean/Delphi/Condor.lean and lean/README.md — 13 theorems, no sorry, and the narrow statement of what is new.</a:t>
            </a:r>
          </a:p>
        </p:txBody>
      </p:sp>
      <p:sp>
        <p:nvSpPr>
          <p:cNvPr id="20" name="TextBox 19"/>
          <p:cNvSpPr txBox="1"/>
          <p:nvPr/>
        </p:nvSpPr>
        <p:spPr>
          <a:xfrm>
            <a:off x="6347307" y="1883664"/>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[R7]</a:t>
            </a:r>
          </a:p>
        </p:txBody>
      </p:sp>
      <p:sp>
        <p:nvSpPr>
          <p:cNvPr id="21" name="TextBox 20"/>
          <p:cNvSpPr txBox="1"/>
          <p:nvPr/>
        </p:nvSpPr>
        <p:spPr>
          <a:xfrm>
            <a:off x="6767931" y="1883664"/>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docs/report_2026-09-02.md — the pilot session, on the development account PA314NYH4H7G.</a:t>
            </a:r>
          </a:p>
        </p:txBody>
      </p:sp>
      <p:sp>
        <p:nvSpPr>
          <p:cNvPr id="22" name="TextBox 21"/>
          <p:cNvSpPr txBox="1"/>
          <p:nvPr/>
        </p:nvSpPr>
        <p:spPr>
          <a:xfrm>
            <a:off x="6347307" y="233720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[R8]</a:t>
            </a:r>
          </a:p>
        </p:txBody>
      </p:sp>
      <p:sp>
        <p:nvSpPr>
          <p:cNvPr id="23" name="TextBox 22"/>
          <p:cNvSpPr txBox="1"/>
          <p:nvPr/>
        </p:nvSpPr>
        <p:spPr>
          <a:xfrm>
            <a:off x="6767931" y="233720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docs/ledger.json and docs/index.html — the published per-session ledger.</a:t>
            </a:r>
          </a:p>
        </p:txBody>
      </p:sp>
      <p:sp>
        <p:nvSpPr>
          <p:cNvPr id="24" name="TextBox 23"/>
          <p:cNvSpPr txBox="1"/>
          <p:nvPr/>
        </p:nvSpPr>
        <p:spPr>
          <a:xfrm>
            <a:off x="6347307" y="2641701"/>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[R9]</a:t>
            </a:r>
          </a:p>
        </p:txBody>
      </p:sp>
      <p:sp>
        <p:nvSpPr>
          <p:cNvPr id="25" name="TextBox 24"/>
          <p:cNvSpPr txBox="1"/>
          <p:nvPr/>
        </p:nvSpPr>
        <p:spPr>
          <a:xfrm>
            <a:off x="6767931" y="2641701"/>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docs/regime_model_report.md and research/H_tabular_ml_small_data.md — 21 model configurations and their negative results.</a:t>
            </a:r>
          </a:p>
        </p:txBody>
      </p:sp>
      <p:sp>
        <p:nvSpPr>
          <p:cNvPr id="26" name="TextBox 25"/>
          <p:cNvSpPr txBox="1"/>
          <p:nvPr/>
        </p:nvSpPr>
        <p:spPr>
          <a:xfrm>
            <a:off x="6347307" y="3095244"/>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[R10]</a:t>
            </a:r>
          </a:p>
        </p:txBody>
      </p:sp>
      <p:sp>
        <p:nvSpPr>
          <p:cNvPr id="27" name="TextBox 26"/>
          <p:cNvSpPr txBox="1"/>
          <p:nvPr/>
        </p:nvSpPr>
        <p:spPr>
          <a:xfrm>
            <a:off x="6767931" y="3095244"/>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research/G_conformal_condor.md — the study behind the conformal condor, including the refutation of the width-changing variant.</a:t>
            </a:r>
          </a:p>
        </p:txBody>
      </p:sp>
      <p:sp>
        <p:nvSpPr>
          <p:cNvPr id="28" name="TextBox 27"/>
          <p:cNvSpPr txBox="1"/>
          <p:nvPr/>
        </p:nvSpPr>
        <p:spPr>
          <a:xfrm>
            <a:off x="6347307" y="3548786"/>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[R11]</a:t>
            </a:r>
          </a:p>
        </p:txBody>
      </p:sp>
      <p:sp>
        <p:nvSpPr>
          <p:cNvPr id="29" name="TextBox 28"/>
          <p:cNvSpPr txBox="1"/>
          <p:nvPr/>
        </p:nvSpPr>
        <p:spPr>
          <a:xfrm>
            <a:off x="6767931" y="3548786"/>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scripts/reproduce.py — regenerates every number quoted in the documents and prints MATCH or MISMATCH.</a:t>
            </a:r>
          </a:p>
        </p:txBody>
      </p:sp>
      <p:sp>
        <p:nvSpPr>
          <p:cNvPr id="30" name="TextBox 29"/>
          <p:cNvSpPr txBox="1"/>
          <p:nvPr/>
        </p:nvSpPr>
        <p:spPr>
          <a:xfrm>
            <a:off x="6347307" y="4002328"/>
            <a:ext cx="384048" cy="219456"/>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101010"/>
                </a:solidFill>
                <a:latin typeface="Segoe UI Semibold"/>
              </a:rPr>
              <a:t>[R12]</a:t>
            </a:r>
          </a:p>
        </p:txBody>
      </p:sp>
      <p:sp>
        <p:nvSpPr>
          <p:cNvPr id="31" name="TextBox 30"/>
          <p:cNvSpPr txBox="1"/>
          <p:nvPr/>
        </p:nvSpPr>
        <p:spPr>
          <a:xfrm>
            <a:off x="6767931" y="4002328"/>
            <a:ext cx="4600803" cy="822960"/>
          </a:xfrm>
          <a:prstGeom prst="rect">
            <a:avLst/>
          </a:prstGeom>
          <a:noFill/>
        </p:spPr>
        <p:txBody>
          <a:bodyPr wrap="square" lIns="0" rIns="0" tIns="0" bIns="0" anchor="t">
            <a:spAutoFit/>
          </a:bodyPr>
          <a:lstStyle/>
          <a:p>
            <a:pPr algn="l">
              <a:lnSpc>
                <a:spcPct val="126000"/>
              </a:lnSpc>
              <a:spcBef>
                <a:spcPts val="0"/>
              </a:spcBef>
              <a:spcAft>
                <a:spcPts val="0"/>
              </a:spcAft>
            </a:pPr>
            <a:r>
              <a:rPr sz="900" b="0" i="0">
                <a:solidFill>
                  <a:srgbClr val="2B373B"/>
                </a:solidFill>
                <a:latin typeface="Segoe UI"/>
              </a:rPr>
              <a:t>research/STATE_OF_THE_ART.md — the synthesis, and section 14, the independent literature audit of 2026-09-02.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